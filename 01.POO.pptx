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9"/>
  </p:notesMasterIdLst>
  <p:sldIdLst>
    <p:sldId id="256" r:id="rId2"/>
    <p:sldId id="257" r:id="rId3"/>
    <p:sldId id="258" r:id="rId4"/>
    <p:sldId id="284" r:id="rId5"/>
    <p:sldId id="282" r:id="rId6"/>
    <p:sldId id="283" r:id="rId7"/>
    <p:sldId id="259" r:id="rId8"/>
    <p:sldId id="260" r:id="rId9"/>
    <p:sldId id="263" r:id="rId10"/>
    <p:sldId id="285" r:id="rId11"/>
    <p:sldId id="286" r:id="rId12"/>
    <p:sldId id="287" r:id="rId13"/>
    <p:sldId id="288" r:id="rId14"/>
    <p:sldId id="273" r:id="rId15"/>
    <p:sldId id="293" r:id="rId16"/>
    <p:sldId id="294" r:id="rId17"/>
    <p:sldId id="289" r:id="rId18"/>
    <p:sldId id="290" r:id="rId19"/>
    <p:sldId id="261" r:id="rId20"/>
    <p:sldId id="291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5" r:id="rId40"/>
    <p:sldId id="314" r:id="rId41"/>
    <p:sldId id="317" r:id="rId42"/>
    <p:sldId id="316" r:id="rId43"/>
    <p:sldId id="313" r:id="rId44"/>
    <p:sldId id="292" r:id="rId45"/>
    <p:sldId id="262" r:id="rId46"/>
    <p:sldId id="264" r:id="rId47"/>
    <p:sldId id="265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5050"/>
    <a:srgbClr val="FF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modSld">
      <pc:chgData name="Norbey Muñoz" userId="b7e811e8891ccd42" providerId="LiveId" clId="{2482167B-ADD3-4E68-AB8B-ADE9CECE27D0}" dt="2026-08-11T02:37:48.976" v="0" actId="1076"/>
      <pc:docMkLst>
        <pc:docMk/>
      </pc:docMkLst>
      <pc:sldChg chg="modSp mod">
        <pc:chgData name="Norbey Muñoz" userId="b7e811e8891ccd42" providerId="LiveId" clId="{2482167B-ADD3-4E68-AB8B-ADE9CECE27D0}" dt="2026-08-11T02:37:48.976" v="0" actId="1076"/>
        <pc:sldMkLst>
          <pc:docMk/>
          <pc:sldMk cId="4135992447" sldId="299"/>
        </pc:sldMkLst>
        <pc:picChg chg="mod">
          <ac:chgData name="Norbey Muñoz" userId="b7e811e8891ccd42" providerId="LiveId" clId="{2482167B-ADD3-4E68-AB8B-ADE9CECE27D0}" dt="2026-08-11T02:37:48.976" v="0" actId="1076"/>
          <ac:picMkLst>
            <pc:docMk/>
            <pc:sldMk cId="4135992447" sldId="299"/>
            <ac:picMk id="3" creationId="{19C95EB4-6A24-25DF-6993-EC2FE2606C98}"/>
          </ac:picMkLst>
        </pc:picChg>
      </pc:sldChg>
    </pc:docChg>
  </pc:docChgLst>
  <pc:docChgLst>
    <pc:chgData name="Norbey Muñoz" userId="b7e811e8891ccd42" providerId="Windows Live" clId="Web-{469FADAD-0E97-48EC-E77E-9832BCB11D68}"/>
    <pc:docChg chg="modSld">
      <pc:chgData name="Norbey Muñoz" userId="b7e811e8891ccd42" providerId="Windows Live" clId="Web-{469FADAD-0E97-48EC-E77E-9832BCB11D68}" dt="2026-08-05T23:53:39.760" v="2" actId="1076"/>
      <pc:docMkLst>
        <pc:docMk/>
      </pc:docMkLst>
      <pc:sldChg chg="modSp">
        <pc:chgData name="Norbey Muñoz" userId="b7e811e8891ccd42" providerId="Windows Live" clId="Web-{469FADAD-0E97-48EC-E77E-9832BCB11D68}" dt="2026-08-05T23:44:42.789" v="0" actId="1076"/>
        <pc:sldMkLst>
          <pc:docMk/>
          <pc:sldMk cId="4135992447" sldId="299"/>
        </pc:sldMkLst>
        <pc:picChg chg="mod">
          <ac:chgData name="Norbey Muñoz" userId="b7e811e8891ccd42" providerId="Windows Live" clId="Web-{469FADAD-0E97-48EC-E77E-9832BCB11D68}" dt="2026-08-05T23:44:42.789" v="0" actId="1076"/>
          <ac:picMkLst>
            <pc:docMk/>
            <pc:sldMk cId="4135992447" sldId="299"/>
            <ac:picMk id="3" creationId="{19C95EB4-6A24-25DF-6993-EC2FE2606C98}"/>
          </ac:picMkLst>
        </pc:picChg>
      </pc:sldChg>
      <pc:sldChg chg="modSp">
        <pc:chgData name="Norbey Muñoz" userId="b7e811e8891ccd42" providerId="Windows Live" clId="Web-{469FADAD-0E97-48EC-E77E-9832BCB11D68}" dt="2026-08-05T23:53:39.760" v="2" actId="1076"/>
        <pc:sldMkLst>
          <pc:docMk/>
          <pc:sldMk cId="859856438" sldId="300"/>
        </pc:sldMkLst>
        <pc:picChg chg="mod">
          <ac:chgData name="Norbey Muñoz" userId="b7e811e8891ccd42" providerId="Windows Live" clId="Web-{469FADAD-0E97-48EC-E77E-9832BCB11D68}" dt="2026-08-05T23:53:39.760" v="2" actId="1076"/>
          <ac:picMkLst>
            <pc:docMk/>
            <pc:sldMk cId="859856438" sldId="300"/>
            <ac:picMk id="2" creationId="{600664A0-49C5-C6B1-4FD3-29B161A2AE79}"/>
          </ac:picMkLst>
        </pc:picChg>
      </pc:sldChg>
    </pc:docChg>
  </pc:docChgLst>
  <pc:docChgLst>
    <pc:chgData name="Norbey Muñoz" userId="b7e811e8891ccd42" providerId="Windows Live" clId="Web-{7367BA23-106D-2803-E697-CFE1E0CD12A7}"/>
    <pc:docChg chg="modSld">
      <pc:chgData name="Norbey Muñoz" userId="b7e811e8891ccd42" providerId="Windows Live" clId="Web-{7367BA23-106D-2803-E697-CFE1E0CD12A7}" dt="2026-08-06T23:28:46.101" v="2" actId="1076"/>
      <pc:docMkLst>
        <pc:docMk/>
      </pc:docMkLst>
      <pc:sldChg chg="modSp">
        <pc:chgData name="Norbey Muñoz" userId="b7e811e8891ccd42" providerId="Windows Live" clId="Web-{7367BA23-106D-2803-E697-CFE1E0CD12A7}" dt="2026-08-06T23:24:24.717" v="1" actId="14100"/>
        <pc:sldMkLst>
          <pc:docMk/>
          <pc:sldMk cId="859856438" sldId="300"/>
        </pc:sldMkLst>
        <pc:picChg chg="mod">
          <ac:chgData name="Norbey Muñoz" userId="b7e811e8891ccd42" providerId="Windows Live" clId="Web-{7367BA23-106D-2803-E697-CFE1E0CD12A7}" dt="2026-08-06T23:24:24.717" v="1" actId="14100"/>
          <ac:picMkLst>
            <pc:docMk/>
            <pc:sldMk cId="859856438" sldId="300"/>
            <ac:picMk id="2" creationId="{600664A0-49C5-C6B1-4FD3-29B161A2AE79}"/>
          </ac:picMkLst>
        </pc:picChg>
      </pc:sldChg>
      <pc:sldChg chg="modSp">
        <pc:chgData name="Norbey Muñoz" userId="b7e811e8891ccd42" providerId="Windows Live" clId="Web-{7367BA23-106D-2803-E697-CFE1E0CD12A7}" dt="2026-08-06T23:28:46.101" v="2" actId="1076"/>
        <pc:sldMkLst>
          <pc:docMk/>
          <pc:sldMk cId="3248376123" sldId="301"/>
        </pc:sldMkLst>
        <pc:picChg chg="mod">
          <ac:chgData name="Norbey Muñoz" userId="b7e811e8891ccd42" providerId="Windows Live" clId="Web-{7367BA23-106D-2803-E697-CFE1E0CD12A7}" dt="2026-08-06T23:28:46.101" v="2" actId="1076"/>
          <ac:picMkLst>
            <pc:docMk/>
            <pc:sldMk cId="3248376123" sldId="301"/>
            <ac:picMk id="3" creationId="{C9D52646-9587-B362-F4ED-21C3FB376D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098125B-3B34-A4D4-52B9-628A95E11C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7D7DE58-D465-C6F0-CE09-5BE60D5C177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3E2EC5E-CAE3-DC66-AC95-AEF41261C87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3A9C3AE7-5EAA-85C2-5551-2E0C0DF367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91101440-85D5-91C6-EFF1-E328C0901C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482625FD-4DCF-4A91-CC81-FBD3D4A18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48BC1B-A195-45E8-9B3E-79458237F07B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07C81E4B-9B07-3C7D-F99B-8D1F0BFFA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2B6F81-CBE7-4858-AC0B-9AA803863945}" type="slidenum">
              <a:rPr kumimoji="0" lang="es-ES" altLang="en-US"/>
              <a:pPr>
                <a:spcBef>
                  <a:spcPct val="0"/>
                </a:spcBef>
              </a:pPr>
              <a:t>1</a:t>
            </a:fld>
            <a:endParaRPr kumimoji="0" lang="es-ES" altLang="en-U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444895B-26FF-3F87-036E-E95FB2EA39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C687CC7-92DC-505E-C441-13093D364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91CC8CA-C92C-E7CE-56D9-320D864045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33B884-22ED-45C4-BAD0-605C5CD5AC2A}" type="slidenum">
              <a:rPr kumimoji="0" lang="es-ES" altLang="en-US"/>
              <a:pPr>
                <a:spcBef>
                  <a:spcPct val="0"/>
                </a:spcBef>
              </a:pPr>
              <a:t>2</a:t>
            </a:fld>
            <a:endParaRPr kumimoji="0" lang="es-E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519066A-5F5B-8BE4-D48D-0BF50B8E1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3C39A29-90A0-7EB8-C63E-0559067F8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24DAF51A-8AA9-1FFA-9BCB-F0BDE3F85C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ECA2A3A-2088-EA5C-4B95-CACF1B0300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F596DCE-E22D-CE5C-F22C-48E0A38E1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901B-24D2-82C7-D9E8-F5E04801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5D8D2144-832C-D78B-38CA-D39142C9A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4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328FB94-CA0B-2FA3-9892-0FBCAB253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B5B8060-A9F9-D736-B893-9A3280843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80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6BCDAAD1-9487-42E9-CA49-4DBEBC8395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AC766C-0EA9-44BA-91E1-262A82F38D29}" type="slidenum">
              <a:rPr kumimoji="0" lang="es-ES" altLang="en-US"/>
              <a:pPr>
                <a:spcBef>
                  <a:spcPct val="0"/>
                </a:spcBef>
              </a:pPr>
              <a:t>7</a:t>
            </a:fld>
            <a:endParaRPr kumimoji="0" lang="es-E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73718D0-9708-1416-F94A-0F31FC1E1E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5316BAA-5C09-457F-B9BC-E3087607A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01504B3-4FEC-E9EF-77A9-054BF5DDE6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A3CF3E-B378-4F01-8037-9ADEAAC23906}" type="slidenum">
              <a:rPr kumimoji="0" lang="es-ES" altLang="en-US"/>
              <a:pPr>
                <a:spcBef>
                  <a:spcPct val="0"/>
                </a:spcBef>
              </a:pPr>
              <a:t>8</a:t>
            </a:fld>
            <a:endParaRPr kumimoji="0" lang="es-E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065BB8D-21B7-1EA3-44C3-2F240847A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29E315B-AFCE-4372-D233-C0B79642D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02452B6-06A9-495F-0A80-204E8C6D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CBDD90-2777-4FD4-A8EA-88A32E19BCD7}" type="slidenum">
              <a:rPr kumimoji="0" lang="es-ES" altLang="en-US"/>
              <a:pPr>
                <a:spcBef>
                  <a:spcPct val="0"/>
                </a:spcBef>
              </a:pPr>
              <a:t>9</a:t>
            </a:fld>
            <a:endParaRPr kumimoji="0" lang="es-E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F6538E1-9C76-9BDA-5402-6449C94CB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0E53AAA-7793-FE3A-F738-4DB12FE8F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3A4D-A47D-3EDB-D0E3-0A773063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BAA1C0A-3C1C-5919-6944-397AEB98E5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CBDD90-2777-4FD4-A8EA-88A32E19BCD7}" type="slidenum">
              <a:rPr kumimoji="0" lang="es-ES" altLang="en-US"/>
              <a:pPr>
                <a:spcBef>
                  <a:spcPct val="0"/>
                </a:spcBef>
              </a:pPr>
              <a:t>10</a:t>
            </a:fld>
            <a:endParaRPr kumimoji="0" lang="es-E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B1E4B3A-7057-2C4A-B018-A50187951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F4D7955-9736-835F-BEC7-EAD9E04B4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066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466E-2BC9-6F09-E87B-01DC511A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68ACBB5-8D17-BF63-6DBC-F97C4B4FEA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CBDD90-2777-4FD4-A8EA-88A32E19BCD7}" type="slidenum">
              <a:rPr kumimoji="0" lang="es-ES" altLang="en-US"/>
              <a:pPr>
                <a:spcBef>
                  <a:spcPct val="0"/>
                </a:spcBef>
              </a:pPr>
              <a:t>11</a:t>
            </a:fld>
            <a:endParaRPr kumimoji="0" lang="es-E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3BC703A-45E4-2D87-9E4F-CD4B7DF448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FFE1C5D-40AC-71BF-0A28-411945928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53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2725-AF3D-C763-A707-54C24A0F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D70FD17-08CD-074C-DE10-BABEB5DE9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CBDD90-2777-4FD4-A8EA-88A32E19BCD7}" type="slidenum">
              <a:rPr kumimoji="0" lang="es-ES" altLang="en-US"/>
              <a:pPr>
                <a:spcBef>
                  <a:spcPct val="0"/>
                </a:spcBef>
              </a:pPr>
              <a:t>12</a:t>
            </a:fld>
            <a:endParaRPr kumimoji="0" lang="es-E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4F9980F-EAAE-B43F-E4B3-A6232147AE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889E207-A485-C194-2984-3EBF695C2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097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FD80-7B1F-6299-6220-AFF6BB97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BA97838A-1367-9AAE-8E38-D4BE45EDD7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CBDD90-2777-4FD4-A8EA-88A32E19BCD7}" type="slidenum">
              <a:rPr kumimoji="0" lang="es-ES" altLang="en-US"/>
              <a:pPr>
                <a:spcBef>
                  <a:spcPct val="0"/>
                </a:spcBef>
              </a:pPr>
              <a:t>13</a:t>
            </a:fld>
            <a:endParaRPr kumimoji="0" lang="es-E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515D53C-A726-BD47-B53B-63197D212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8AB1C31-2668-DCC6-6C9B-981FF5977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078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F08E440-C6C5-2040-A9EB-D297EF9A2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30A9C-5F3C-405A-A4DF-22B3477BC75B}" type="slidenum">
              <a:rPr kumimoji="0" lang="es-ES" altLang="en-US"/>
              <a:pPr>
                <a:spcBef>
                  <a:spcPct val="0"/>
                </a:spcBef>
              </a:pPr>
              <a:t>14</a:t>
            </a:fld>
            <a:endParaRPr kumimoji="0" lang="es-E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B4F395F-8648-3BB8-872E-CDF7B9735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D9AFCEE-69F2-6DD7-23DE-02DFC016F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06BB-306C-D5EA-3F04-3A76BCB0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02FB0EF-8F26-652D-C295-4C7B43A95F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30A9C-5F3C-405A-A4DF-22B3477BC75B}" type="slidenum">
              <a:rPr kumimoji="0" lang="es-ES" altLang="en-US"/>
              <a:pPr>
                <a:spcBef>
                  <a:spcPct val="0"/>
                </a:spcBef>
              </a:pPr>
              <a:t>15</a:t>
            </a:fld>
            <a:endParaRPr kumimoji="0" lang="es-E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C0A44A7-C930-AC5E-2BC2-98FEEE25F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7BB7D64-1204-9ABF-7681-9BB47884A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935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EEBD8-A94F-EE62-F533-5A277FCE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96BC078-EBF4-A374-E786-594078CED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30A9C-5F3C-405A-A4DF-22B3477BC75B}" type="slidenum">
              <a:rPr kumimoji="0" lang="es-ES" altLang="en-US"/>
              <a:pPr>
                <a:spcBef>
                  <a:spcPct val="0"/>
                </a:spcBef>
              </a:pPr>
              <a:t>16</a:t>
            </a:fld>
            <a:endParaRPr kumimoji="0" lang="es-E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95AEFD9-6146-8159-67D1-166500E63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5FAE769-F507-A3B7-D3CB-E36CA7648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829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A33B-EA1B-2CB4-7635-9955E978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2156922-BFDE-FCF0-AA44-E6F839F42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30A9C-5F3C-405A-A4DF-22B3477BC75B}" type="slidenum">
              <a:rPr kumimoji="0" lang="es-ES" altLang="en-US"/>
              <a:pPr>
                <a:spcBef>
                  <a:spcPct val="0"/>
                </a:spcBef>
              </a:pPr>
              <a:t>17</a:t>
            </a:fld>
            <a:endParaRPr kumimoji="0" lang="es-E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B9FDE7A-0A4B-2F49-4BF9-5B9B64AAA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22D2AB0-2320-5BAD-257F-4D8A12B96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06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7730-8705-B1B9-12BD-988E0DE4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BD65CAA-F7C1-C532-A1B4-0E0A3AAD2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A30A9C-5F3C-405A-A4DF-22B3477BC75B}" type="slidenum">
              <a:rPr kumimoji="0" lang="es-ES" altLang="en-US"/>
              <a:pPr>
                <a:spcBef>
                  <a:spcPct val="0"/>
                </a:spcBef>
              </a:pPr>
              <a:t>18</a:t>
            </a:fld>
            <a:endParaRPr kumimoji="0" lang="es-E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3D1FE81-E083-0A21-0066-C0E834B69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38195F6-A3B7-BE2F-376E-D3BAF479B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773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2B039822-4DAD-23B0-EAEA-2C19E67DD9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65FB0D-81DB-4A5B-A3ED-B3706CA0E5D3}" type="slidenum">
              <a:rPr kumimoji="0" lang="es-ES" altLang="en-US"/>
              <a:pPr>
                <a:spcBef>
                  <a:spcPct val="0"/>
                </a:spcBef>
              </a:pPr>
              <a:t>19</a:t>
            </a:fld>
            <a:endParaRPr kumimoji="0" lang="es-E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3C40A4A-72A0-562C-016A-4EAF94EEA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8DC8487-A6A2-4B7C-5AE2-E5B0E69EF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5991-7E21-4913-11BB-3AA9E5600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B6F52FB-FE9A-B64B-BF40-8587E1211F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65FB0D-81DB-4A5B-A3ED-B3706CA0E5D3}" type="slidenum">
              <a:rPr kumimoji="0" lang="es-ES" altLang="en-US"/>
              <a:pPr>
                <a:spcBef>
                  <a:spcPct val="0"/>
                </a:spcBef>
              </a:pPr>
              <a:t>20</a:t>
            </a:fld>
            <a:endParaRPr kumimoji="0" lang="es-E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9FA0A5F-2DE3-38B6-6FC0-D6DCD74E4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443C046-5DA7-C1A9-F1BB-D4188FDEA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158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B166-311E-08FD-88F6-4B32FBEC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4B62EDA0-9F06-3F1A-2C27-19627C236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21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828D954-37CB-6094-6A28-ADB4677D4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334F895-53BF-CD9D-736E-61BCE819B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970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39AD-C11B-C252-D0B6-AC1C11BD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5B44A60-CEDA-480C-F59A-44FC28C72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22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3687D66-6DC1-B38F-0E01-E6B115A743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776DF24-FFCF-3AAC-78BB-B503297EF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03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1682-7EA3-B25E-F048-93483A66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365E1698-9ECE-771B-2C08-633C59077A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23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C025284-4BED-B8BD-06D2-4A9D57B3C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25C5234-B22D-4312-7092-F55C18198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9041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7FE2-3264-3930-F595-750E8DFC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1B86BC14-DD74-EE4B-3674-3ADCD0915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24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B027668-DCCE-6DF6-700B-31670BBF1A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E547BE2-3A14-F7D2-50D6-F9FE8E46B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50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C2EB-AA14-6FD5-1C05-8A30AA2F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A6E8E80-2D2B-6ACB-AAA3-E37A01931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25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8EB8128-0620-54C5-DF82-59CC5C887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71F595F-A1FB-1367-578B-859E6A678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58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212C-DEFA-BEDB-3F04-32946BB0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4A298939-B138-E031-BCE7-21E218BD0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26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441858B-9EA7-FACB-E6F8-32FCE8D71E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83CC948E-589B-E920-F4DB-570179344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90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85E1-0918-B438-AF53-11CBA55A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B28990B-CCBE-2CCA-7E25-BCB001CE4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27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DD4BD87-BED5-B2E1-11BC-3CCEA7B155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2A7F54C-EA0E-7B1B-2AB1-514B7E220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73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E276-758B-7D2D-0FFB-6D560A3F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5AD1EF3-A898-99C2-0668-01615602CA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28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BA8F70A-345B-DE2C-70CB-41436D3813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31853C2-083B-8E76-EC72-8B00BD18A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74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A188-F5EF-4230-2F24-41153D70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85AFB10-14B9-2F4C-F52D-3D8AD2E8D6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29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79E8F07-F682-704F-7F83-21855E166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1F63141-7D72-45E3-35CD-B5BA9E689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5833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52431-0B80-9D38-31CA-53EB53D3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3891EBE-85B7-89B4-5B1E-CCA8557EC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30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5C43A1B1-45FD-8695-1A16-A06774F6E3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7639E93-3023-4F29-D155-CC6593F83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29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F466-FD0B-3AB8-24C3-364382D0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A9A810D-E7F0-5724-5A70-31E4F4157A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31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C735E4B-C635-8A84-DC50-BA9363E852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46BFAE4-03CF-8A56-1ABA-AF8EBB4F6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528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BF7B-DE38-61D1-1B03-F6827F01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AAC15B9-2C8C-61BA-9B53-D2B244D3E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32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0028FD1-E74E-36E9-2328-19C9BDB586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2E9EE74-A03C-B35E-372F-6398C4105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278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030D-FFBD-D4B6-A412-69E66121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1B9B7FA-E5FB-00B3-D328-E75DC8BB4F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33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F5C35AA-A52E-9417-AAB8-90370C5B22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9F0F038-BCC7-EED3-DFED-9420F0960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5087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46CB-C643-A7FA-797C-4C2D079D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C8A8C99-4042-1465-4E9B-1B3C2E84B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34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91AF1F6-E2D1-C489-9F0F-B239DDBD36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0800D1F-D1A3-C695-371A-F34AB6F69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680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899-FB61-23D0-AB3B-4C021189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270A0CC-8786-A41A-61FD-04F2ADFE2A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35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C435C16-E353-DF98-03D5-B50C82A39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1A65E1E-581A-7A94-D546-567AD3F47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238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E373-606B-7B8C-EBC9-DB50F684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490C3B9B-19B5-A799-107A-B098E55CF1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36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DC2CCE1-1799-6660-BB6E-0D160A991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7AB6A1F-96B0-E13C-BC41-35FA87DC8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900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0E64-0DC9-73C1-BF2A-D4D719C9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C9F3ECE-063C-FF83-5ED2-03068553B1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37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8A4F40C-4198-34D3-5221-AA8EFB763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F09E147-FCA5-BE6F-1953-48B5B9AA3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085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0581B-CB31-E8A3-2E72-14ED381BD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3EFA9EA-4EE3-153B-DC61-4D645D52C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38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99B0873-F9D2-010B-6675-AB4F4120E6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D2B0414-2C7A-7858-124F-555714BFF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69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D06F-A302-1AF6-EAA3-E18352BA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243A519-26C1-80DF-227D-519964A5A2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39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AF5A1A83-4A21-CB6B-2522-BD1BCCC004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4DB5C5E-0296-DB1E-319B-B3FB4323D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941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1333-032D-1BC0-5AB2-5F1EFAFC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3A291171-5212-B896-9529-954626F660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40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4B97FD4-B610-526D-04CE-68543D3D5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99537E9-AAC6-0DA7-EF11-E4EF0C554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667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4C4A-1C44-7E41-58AC-CCCBEA16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1E68C21D-B531-F653-4A10-E5AC74482C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41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A991583-77F3-1A21-6C1D-68D2A16CD3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2FCEB46-D60C-79A8-FD31-A634C23A5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1509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5083-33E2-2A8B-5465-DDDC391E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1CE9B308-BCE2-952A-F9CD-5E6833FFA4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42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D877E35-7680-4586-430B-5FB9E3434C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2D6BB56-AE06-0497-2B3B-FF3A618AC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347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8B52-265F-B057-99E3-BDD69A41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9641625-13FB-BA15-F4C0-7AE3FDD2C0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32F5B-0F93-462C-895D-634842356F5B}" type="slidenum">
              <a:rPr kumimoji="0" lang="es-ES" altLang="en-US"/>
              <a:pPr>
                <a:spcBef>
                  <a:spcPct val="0"/>
                </a:spcBef>
              </a:pPr>
              <a:t>43</a:t>
            </a:fld>
            <a:endParaRPr kumimoji="0" lang="es-E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C09BB21-23D1-1DC7-2ABD-440E0B39E5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384E863-A48C-0D57-351D-BDD1CB260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9666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BE1C4-F1DF-9F09-03A7-D08A12A8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452A4C7-FC25-6F40-3999-54F32DBDD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65FB0D-81DB-4A5B-A3ED-B3706CA0E5D3}" type="slidenum">
              <a:rPr kumimoji="0" lang="es-ES" altLang="en-US"/>
              <a:pPr>
                <a:spcBef>
                  <a:spcPct val="0"/>
                </a:spcBef>
              </a:pPr>
              <a:t>44</a:t>
            </a:fld>
            <a:endParaRPr kumimoji="0" lang="es-E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12BF216-6A1B-6F88-7EFA-B0E5A047A9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032BB52-A9F0-FC93-C25C-54B3AB5F3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81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6E7A627-DDD5-B676-907C-AA6C945090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D9BAF6-4B93-4EA6-A9A5-26CAE860A30B}" type="slidenum">
              <a:rPr kumimoji="0" lang="es-ES" altLang="en-US"/>
              <a:pPr>
                <a:spcBef>
                  <a:spcPct val="0"/>
                </a:spcBef>
              </a:pPr>
              <a:t>45</a:t>
            </a:fld>
            <a:endParaRPr kumimoji="0" lang="es-E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A9599AD-C52C-C1EA-E9D2-846998CB0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DA498A1-19D2-FB11-A95E-324A065D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6E93FBF-55DA-3C69-3C5E-50CA8A5BE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DA4C35-CFAD-4BEA-8D5F-3EEFAFA312BF}" type="slidenum">
              <a:rPr kumimoji="0" lang="es-ES" altLang="en-US"/>
              <a:pPr>
                <a:spcBef>
                  <a:spcPct val="0"/>
                </a:spcBef>
              </a:pPr>
              <a:t>46</a:t>
            </a:fld>
            <a:endParaRPr kumimoji="0" lang="es-E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E023CD9-31B5-AF0A-716F-AB1052E364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FE2F77D-3EFE-1948-B939-FE3015304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A999DB3-72A7-54EA-DFDB-9577C4D43E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6D9CDA-855B-4A75-ACF3-782E0CCBE9D7}" type="slidenum">
              <a:rPr kumimoji="0" lang="es-ES" altLang="en-US"/>
              <a:pPr>
                <a:spcBef>
                  <a:spcPct val="0"/>
                </a:spcBef>
              </a:pPr>
              <a:t>47</a:t>
            </a:fld>
            <a:endParaRPr kumimoji="0" lang="es-E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72DD505-A308-D178-675B-C94B412D2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2142B39C-31FA-1294-02A2-8936DEC86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D2CC8D-9CEF-0444-D685-C8A206809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s-ES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F944286-2AAA-EBC7-AFFC-8585E5136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s-ES" altLang="en-US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45A19365-5440-C11D-2F81-2C6910D644D7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5" name="AutoShape 12">
              <a:extLst>
                <a:ext uri="{FF2B5EF4-FFF2-40B4-BE49-F238E27FC236}">
                  <a16:creationId xmlns:a16="http://schemas.microsoft.com/office/drawing/2014/main" id="{64B3E58E-3D07-0F9E-05E2-2DEFAAE16B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  <p:sp>
          <p:nvSpPr>
            <p:cNvPr id="6" name="AutoShape 13">
              <a:extLst>
                <a:ext uri="{FF2B5EF4-FFF2-40B4-BE49-F238E27FC236}">
                  <a16:creationId xmlns:a16="http://schemas.microsoft.com/office/drawing/2014/main" id="{BAE96125-B75E-164D-6FFE-CEDC71B08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</p:grpSp>
      <p:sp>
        <p:nvSpPr>
          <p:cNvPr id="81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821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71E0809-A6DF-DE8F-0CD5-CC14DAF166C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2667000" y="65532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D5808AC-7AD0-ACCF-A513-BD40B91D9C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95888" y="6553200"/>
            <a:ext cx="3279775" cy="30480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B85F5239-0479-4131-44B1-E7855F9349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525" y="5962650"/>
            <a:ext cx="587375" cy="885825"/>
          </a:xfrm>
        </p:spPr>
        <p:txBody>
          <a:bodyPr anchorCtr="0"/>
          <a:lstStyle>
            <a:lvl1pPr>
              <a:defRPr smtClean="0"/>
            </a:lvl1pPr>
          </a:lstStyle>
          <a:p>
            <a:pPr>
              <a:defRPr/>
            </a:pPr>
            <a:fld id="{CD441C57-4009-4936-A40C-027174C52173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95761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5FEBECF-44FE-F163-F677-076D6B2BA8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3389815-6747-2D47-BF82-CB5DFFDBA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5472487-AAEB-26D5-E4BF-47DE2C9BE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16CC0-4D5D-4429-9613-C431239FC311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8537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9D100C6-D99D-788A-4E95-B2B46C30A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28B714D9-03F8-A3F4-7BFE-7356EFFA79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AE2054B-09F3-BFD2-BD41-BDDD8F1EF3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6A611-98DD-4284-913B-C1E46B88288E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6212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91100" y="18288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7CE6242-ACEE-0F8E-06DF-D8ABCF2D20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77641600-F7C0-A8ED-132C-DBFBDE34FD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462DE05A-8FDF-04DF-1218-DE2D86D248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8B6E3-7E59-4753-AA42-D020AEE81F7C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9907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FFF96D3-62C6-4075-5E8A-C54C7034B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CE549FC2-F527-78FF-4D60-7E829F09E8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B3729AFA-C3A8-02CA-F9A4-70B225F1C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ADD33-DF46-42EA-B1E0-71AD8777257B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88243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C2ACC603-12F6-E5D9-8481-A92BD5BB4A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ECBB8BFF-CEC5-8387-A923-4A548B62BC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1D5B4073-E5F1-E3DB-F758-A7692EF54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53779-1CDF-4839-9F3E-872D69265FF9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9974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907222AD-EFC3-3324-C3B4-5F1297B22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CE9311E8-2B69-C2D7-B7CD-556105F97B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C1ADB0DE-8B0A-7B2A-8DB1-2D97E23AF6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060CE-A27C-45FB-B1A9-A4355D6F453E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5479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F39CFE9-ACA6-623B-4410-AD61FA6AFA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C12B22B-3D79-385C-A5A2-67652A0EDB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05FF26B4-51F9-9BE5-463C-C01732C972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7266D-1A0C-46D0-8768-1B9F83B99CED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5933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9B4E4B5-7DD5-D6A6-F833-3E55D88F6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4AD35E50-C5AF-C42F-2675-5BCDDB6C2D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88B7D04-9A65-0B2F-B513-4AB34504F2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1DC44-B6F6-4513-900B-8B499E7658E6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929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2099A4A-9886-47C6-47B6-11F9E6038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87357CE7-9643-8E5E-4325-0581225ADC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C0264F8-F188-957B-C5DA-80A33E1B15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E53AF-6D77-40CF-8936-9CFE69148564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3349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48350" cy="53340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9D31E20-CAFC-4946-70AD-04A97A88AD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EC7A6716-0AB6-7111-EA7A-5222332BA9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2186E35-602E-CFD2-3BB4-465FE7899A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F0BC-AE1F-4701-8DCD-0D22EDD3018A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3783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>
            <a:extLst>
              <a:ext uri="{FF2B5EF4-FFF2-40B4-BE49-F238E27FC236}">
                <a16:creationId xmlns:a16="http://schemas.microsoft.com/office/drawing/2014/main" id="{60A5B1FA-7535-7268-A981-AB766E3053A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6" name="Rectangle 3">
              <a:extLst>
                <a:ext uri="{FF2B5EF4-FFF2-40B4-BE49-F238E27FC236}">
                  <a16:creationId xmlns:a16="http://schemas.microsoft.com/office/drawing/2014/main" id="{C4529A2A-C575-86DC-C77B-187F59B7E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78604139-1A9F-13D1-287F-15DF95DC9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</p:grpSp>
      <p:sp>
        <p:nvSpPr>
          <p:cNvPr id="1027" name="AutoShape 5">
            <a:extLst>
              <a:ext uri="{FF2B5EF4-FFF2-40B4-BE49-F238E27FC236}">
                <a16:creationId xmlns:a16="http://schemas.microsoft.com/office/drawing/2014/main" id="{C5A9ABA1-5D99-E3C3-344A-5BDD6B49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s-ES" altLang="en-US"/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6044EDC9-B064-87E4-4C78-4EE54896B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42952142-BEBF-D41F-D2FE-14F152359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B8723756-54F9-8F53-186D-28CF9A82B4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5F5D4A6A-A47D-A4AC-F2EF-E3B6C8D991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36875" y="6529388"/>
            <a:ext cx="28956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id="{5C6C7736-7103-6482-32BE-09B56DB454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5946775"/>
            <a:ext cx="587375" cy="8858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 eaLnBrk="1" hangingPunct="1">
              <a:defRPr sz="2600" b="1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D3D77E2-AFDB-4250-A934-98DAE5477619}" type="slidenum">
              <a:rPr lang="es-ES" altLang="en-US"/>
              <a:pPr>
                <a:defRPr/>
              </a:pPr>
              <a:t>‹#›</a:t>
            </a:fld>
            <a:endParaRPr lang="es-ES" altLang="en-US"/>
          </a:p>
        </p:txBody>
      </p:sp>
      <p:grpSp>
        <p:nvGrpSpPr>
          <p:cNvPr id="1033" name="Group 21">
            <a:extLst>
              <a:ext uri="{FF2B5EF4-FFF2-40B4-BE49-F238E27FC236}">
                <a16:creationId xmlns:a16="http://schemas.microsoft.com/office/drawing/2014/main" id="{A216F262-465B-9663-BFEE-4E5226596D81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447800"/>
            <a:ext cx="7391400" cy="319088"/>
            <a:chOff x="144" y="1248"/>
            <a:chExt cx="4656" cy="201"/>
          </a:xfrm>
        </p:grpSpPr>
        <p:sp>
          <p:nvSpPr>
            <p:cNvPr id="1034" name="AutoShape 12">
              <a:extLst>
                <a:ext uri="{FF2B5EF4-FFF2-40B4-BE49-F238E27FC236}">
                  <a16:creationId xmlns:a16="http://schemas.microsoft.com/office/drawing/2014/main" id="{F778BB27-C7C9-4E26-8056-57BECC81E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  <p:sp>
          <p:nvSpPr>
            <p:cNvPr id="1035" name="AutoShape 20">
              <a:extLst>
                <a:ext uri="{FF2B5EF4-FFF2-40B4-BE49-F238E27FC236}">
                  <a16:creationId xmlns:a16="http://schemas.microsoft.com/office/drawing/2014/main" id="{7ACF2428-0DA3-0C17-4851-245487DD66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s-E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gif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20153BA-7677-2F83-A97C-A7155C137A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5C7B02D-B1FA-2717-0AD5-CA3BB75C2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Introducción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1820635-0874-4AA8-17C4-D53450AD1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8067675" cy="2590800"/>
          </a:xfrm>
        </p:spPr>
        <p:txBody>
          <a:bodyPr/>
          <a:lstStyle/>
          <a:p>
            <a:pPr algn="just" eaLnBrk="1" hangingPunct="1"/>
            <a:r>
              <a:rPr lang="es-ES" altLang="en-US" sz="2400" dirty="0"/>
              <a:t>Los problemas suelen tener </a:t>
            </a:r>
            <a:r>
              <a:rPr lang="es-ES" altLang="en-US" sz="2400" dirty="0">
                <a:solidFill>
                  <a:srgbClr val="0066FF"/>
                </a:solidFill>
              </a:rPr>
              <a:t>varias soluciones</a:t>
            </a:r>
            <a:r>
              <a:rPr lang="es-ES" altLang="en-US" sz="2400" dirty="0"/>
              <a:t> posibles.</a:t>
            </a:r>
          </a:p>
          <a:p>
            <a:pPr algn="just" eaLnBrk="1" hangingPunct="1"/>
            <a:r>
              <a:rPr lang="es-ES" altLang="en-US" sz="2400" dirty="0"/>
              <a:t>En programación existen </a:t>
            </a:r>
            <a:r>
              <a:rPr lang="es-ES" altLang="en-US" sz="2400" dirty="0">
                <a:solidFill>
                  <a:srgbClr val="0066FF"/>
                </a:solidFill>
              </a:rPr>
              <a:t>diversos paradigmas</a:t>
            </a:r>
            <a:r>
              <a:rPr lang="es-ES" altLang="en-US" sz="2400" dirty="0"/>
              <a:t> que nos ayudan a enfrentar un problema.</a:t>
            </a:r>
          </a:p>
          <a:p>
            <a:pPr algn="just" eaLnBrk="1" hangingPunct="1"/>
            <a:r>
              <a:rPr lang="es-ES" altLang="en-US" sz="2400" dirty="0"/>
              <a:t>Cada paradigma tiene </a:t>
            </a:r>
            <a:r>
              <a:rPr lang="es-ES" altLang="en-US" sz="2400" dirty="0">
                <a:solidFill>
                  <a:srgbClr val="0066FF"/>
                </a:solidFill>
              </a:rPr>
              <a:t>diversos lenguajes</a:t>
            </a:r>
            <a:r>
              <a:rPr lang="es-ES" altLang="en-US" sz="2400" dirty="0"/>
              <a:t> que las soportan.</a:t>
            </a:r>
          </a:p>
          <a:p>
            <a:pPr lvl="1" algn="just" eaLnBrk="1" hangingPunct="1"/>
            <a:r>
              <a:rPr lang="es-ES" altLang="en-US" sz="2000" dirty="0"/>
              <a:t>Algunos lenguajes soportan varios paradigmas.</a:t>
            </a:r>
          </a:p>
        </p:txBody>
      </p:sp>
      <p:graphicFrame>
        <p:nvGraphicFramePr>
          <p:cNvPr id="43050" name="Group 42">
            <a:extLst>
              <a:ext uri="{FF2B5EF4-FFF2-40B4-BE49-F238E27FC236}">
                <a16:creationId xmlns:a16="http://schemas.microsoft.com/office/drawing/2014/main" id="{E5D2C2CD-54F0-16A7-8507-B357B62FE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27794"/>
              </p:ext>
            </p:extLst>
          </p:nvPr>
        </p:nvGraphicFramePr>
        <p:xfrm>
          <a:off x="1066800" y="4567238"/>
          <a:ext cx="7915275" cy="2139951"/>
        </p:xfrm>
        <a:graphic>
          <a:graphicData uri="http://schemas.openxmlformats.org/drawingml/2006/table">
            <a:tbl>
              <a:tblPr/>
              <a:tblGrid>
                <a:gridCol w="399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Paradigma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Lenguaje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Estructurada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Fortran, C, Pascal, Basic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Orientada a objetos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OOP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C++</a:t>
                      </a: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Java, Smalltalk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Orientada a eventos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s-E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VisualBasic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FC26FBD-7F37-4FC6-5916-85DCB824D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5545F4A-7FC0-6E00-5305-9CD26B70F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420888"/>
            <a:ext cx="7762056" cy="3528392"/>
          </a:xfrm>
        </p:spPr>
        <p:txBody>
          <a:bodyPr/>
          <a:lstStyle/>
          <a:p>
            <a:pPr marL="387350" indent="-387350" algn="just" eaLnBrk="1" hangingPunct="1">
              <a:buFont typeface="Wingdings" panose="05000000000000000000" pitchFamily="2" charset="2"/>
              <a:buNone/>
            </a:pPr>
            <a:r>
              <a:rPr lang="es-ES" altLang="en-US" sz="2400" b="1" dirty="0"/>
              <a:t>Definición:</a:t>
            </a:r>
          </a:p>
          <a:p>
            <a:pPr marL="387350" indent="-387350" algn="just" eaLnBrk="1" hangingPunct="1">
              <a:buFont typeface="Wingdings" panose="05000000000000000000" pitchFamily="2" charset="2"/>
              <a:buNone/>
            </a:pPr>
            <a:r>
              <a:rPr lang="es-ES" altLang="en-US" sz="2400" dirty="0"/>
              <a:t>	La </a:t>
            </a:r>
            <a:r>
              <a:rPr lang="es-ES" altLang="en-US" sz="2400" b="1" dirty="0">
                <a:solidFill>
                  <a:srgbClr val="0066FF"/>
                </a:solidFill>
              </a:rPr>
              <a:t>Programación Orientada a Objetos (OOP)</a:t>
            </a:r>
            <a:r>
              <a:rPr lang="es-ES" altLang="en-US" sz="2400" dirty="0"/>
              <a:t> es un </a:t>
            </a:r>
            <a:r>
              <a:rPr lang="es-ES" altLang="en-US" sz="2400" b="1" dirty="0">
                <a:solidFill>
                  <a:srgbClr val="0066FF"/>
                </a:solidFill>
              </a:rPr>
              <a:t>paradigma (método)</a:t>
            </a:r>
            <a:r>
              <a:rPr lang="es-ES" altLang="en-US" sz="2400" dirty="0"/>
              <a:t> de programación en el cual los programas se organizan en colecciones cooperativas de </a:t>
            </a:r>
            <a:r>
              <a:rPr lang="es-ES" altLang="en-US" sz="2400" b="1" dirty="0">
                <a:solidFill>
                  <a:srgbClr val="0066FF"/>
                </a:solidFill>
              </a:rPr>
              <a:t>objetos</a:t>
            </a:r>
            <a:r>
              <a:rPr lang="es-ES" altLang="en-US" sz="2400" dirty="0"/>
              <a:t>, cada uno de los cuales representa una </a:t>
            </a:r>
            <a:r>
              <a:rPr lang="es-ES" altLang="en-US" sz="2400" b="1" i="1" dirty="0">
                <a:solidFill>
                  <a:srgbClr val="0066FF"/>
                </a:solidFill>
              </a:rPr>
              <a:t>instancia</a:t>
            </a:r>
            <a:r>
              <a:rPr lang="es-ES" altLang="en-US" sz="2400" dirty="0"/>
              <a:t> de alguna </a:t>
            </a:r>
            <a:r>
              <a:rPr lang="es-ES" altLang="en-US" sz="2400" b="1" dirty="0">
                <a:solidFill>
                  <a:srgbClr val="0066FF"/>
                </a:solidFill>
              </a:rPr>
              <a:t>clase</a:t>
            </a:r>
            <a:r>
              <a:rPr lang="es-ES" altLang="en-US" sz="2400" dirty="0"/>
              <a:t>, y cuyas clases son, todas ellas, miembros de una </a:t>
            </a:r>
            <a:r>
              <a:rPr lang="es-ES" altLang="en-US" sz="2400" b="1" dirty="0">
                <a:solidFill>
                  <a:srgbClr val="0066FF"/>
                </a:solidFill>
              </a:rPr>
              <a:t>jerarquía de clases</a:t>
            </a:r>
            <a:r>
              <a:rPr lang="es-ES" altLang="en-US" sz="2400" dirty="0"/>
              <a:t> unidas mediante </a:t>
            </a:r>
            <a:r>
              <a:rPr lang="es-ES" altLang="en-US" sz="2400" b="1" dirty="0">
                <a:solidFill>
                  <a:srgbClr val="0066FF"/>
                </a:solidFill>
              </a:rPr>
              <a:t>relaciones de herencia</a:t>
            </a:r>
            <a:r>
              <a:rPr lang="es-ES" altLang="en-US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FF3F9-588B-D1CA-22A7-E53D3A78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013346D-CE1D-9E38-7BE5-FECC09716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FF76744-E769-202C-EA4D-07FE7260C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564904"/>
            <a:ext cx="8077200" cy="4293096"/>
          </a:xfrm>
        </p:spPr>
        <p:txBody>
          <a:bodyPr/>
          <a:lstStyle/>
          <a:p>
            <a:pPr marL="387350" indent="-387350" algn="just" eaLnBrk="1" hangingPunct="1">
              <a:buFont typeface="Wingdings" panose="05000000000000000000" pitchFamily="2" charset="2"/>
              <a:buNone/>
            </a:pPr>
            <a:r>
              <a:rPr lang="es-ES" altLang="en-US" sz="2400" b="1" dirty="0"/>
              <a:t>Comentarios:</a:t>
            </a:r>
          </a:p>
          <a:p>
            <a:pPr marL="387350" indent="-387350" algn="just" eaLnBrk="1" hangingPunct="1"/>
            <a:r>
              <a:rPr lang="es-ES" altLang="en-US" sz="2000" dirty="0"/>
              <a:t>Usamos </a:t>
            </a:r>
            <a:r>
              <a:rPr lang="es-ES" altLang="en-US" sz="2000" dirty="0">
                <a:solidFill>
                  <a:srgbClr val="0066FF"/>
                </a:solidFill>
              </a:rPr>
              <a:t>objetos </a:t>
            </a:r>
            <a:r>
              <a:rPr lang="es-ES" altLang="en-US" sz="2000" dirty="0"/>
              <a:t>como bloque fundamental.</a:t>
            </a:r>
          </a:p>
          <a:p>
            <a:pPr marL="387350" indent="-387350" algn="just" eaLnBrk="1" hangingPunct="1"/>
            <a:r>
              <a:rPr lang="es-ES" altLang="en-US" sz="2000" dirty="0"/>
              <a:t>Cada objeto es una </a:t>
            </a:r>
            <a:r>
              <a:rPr lang="es-ES" altLang="en-US" sz="2000" dirty="0">
                <a:solidFill>
                  <a:srgbClr val="0066FF"/>
                </a:solidFill>
              </a:rPr>
              <a:t>instancia</a:t>
            </a:r>
            <a:r>
              <a:rPr lang="es-ES" altLang="en-US" sz="2000" dirty="0"/>
              <a:t> de una clase.</a:t>
            </a:r>
          </a:p>
          <a:p>
            <a:pPr marL="387350" indent="-387350" algn="just" eaLnBrk="1" hangingPunct="1"/>
            <a:r>
              <a:rPr lang="es-ES" altLang="en-US" sz="2000" dirty="0"/>
              <a:t>Las clases están relacionadas entre sí por relaciones tan complejas como la </a:t>
            </a:r>
            <a:r>
              <a:rPr lang="es-ES" altLang="en-US" sz="2000" dirty="0">
                <a:solidFill>
                  <a:srgbClr val="0066FF"/>
                </a:solidFill>
              </a:rPr>
              <a:t>herencia.</a:t>
            </a:r>
            <a:endParaRPr lang="es-E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106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>
            <a:extLst>
              <a:ext uri="{FF2B5EF4-FFF2-40B4-BE49-F238E27FC236}">
                <a16:creationId xmlns:a16="http://schemas.microsoft.com/office/drawing/2014/main" id="{5F696D8D-13E5-FB2D-3E43-CAEC6A257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/>
              <a:t>Ventajas de la POO</a:t>
            </a:r>
          </a:p>
        </p:txBody>
      </p:sp>
      <p:sp>
        <p:nvSpPr>
          <p:cNvPr id="10243" name="2 Marcador de contenido">
            <a:extLst>
              <a:ext uri="{FF2B5EF4-FFF2-40B4-BE49-F238E27FC236}">
                <a16:creationId xmlns:a16="http://schemas.microsoft.com/office/drawing/2014/main" id="{8A6B5E72-82A3-861C-2624-FD46A4E15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 dirty="0"/>
              <a:t>Proximidad de los conceptos modelados respecto a objetos del </a:t>
            </a:r>
            <a:r>
              <a:rPr lang="es-ES" altLang="en-US" dirty="0">
                <a:solidFill>
                  <a:srgbClr val="0066FF"/>
                </a:solidFill>
              </a:rPr>
              <a:t>mundo real</a:t>
            </a:r>
          </a:p>
          <a:p>
            <a:pPr algn="just"/>
            <a:r>
              <a:rPr lang="es-ES" altLang="en-US" dirty="0"/>
              <a:t>Facilita la </a:t>
            </a:r>
            <a:r>
              <a:rPr lang="es-ES" altLang="en-US" dirty="0">
                <a:solidFill>
                  <a:srgbClr val="0066FF"/>
                </a:solidFill>
              </a:rPr>
              <a:t>reutilización </a:t>
            </a:r>
            <a:r>
              <a:rPr lang="es-ES" altLang="en-US" dirty="0"/>
              <a:t>de código</a:t>
            </a:r>
          </a:p>
          <a:p>
            <a:pPr lvl="1" algn="just"/>
            <a:r>
              <a:rPr lang="es-ES" altLang="en-US" dirty="0"/>
              <a:t>Y por tanto el </a:t>
            </a:r>
            <a:r>
              <a:rPr lang="es-ES" altLang="en-US" dirty="0">
                <a:solidFill>
                  <a:srgbClr val="0066FF"/>
                </a:solidFill>
              </a:rPr>
              <a:t>mantenimiento </a:t>
            </a:r>
            <a:r>
              <a:rPr lang="es-ES" altLang="en-US" dirty="0"/>
              <a:t>de este</a:t>
            </a:r>
          </a:p>
          <a:p>
            <a:pPr algn="just"/>
            <a:r>
              <a:rPr lang="es-ES" altLang="en-US" dirty="0"/>
              <a:t>Se pueden usar </a:t>
            </a:r>
            <a:r>
              <a:rPr lang="es-ES" altLang="en-US" dirty="0">
                <a:solidFill>
                  <a:srgbClr val="0066FF"/>
                </a:solidFill>
              </a:rPr>
              <a:t>conceptos comunes</a:t>
            </a:r>
            <a:r>
              <a:rPr lang="es-ES" altLang="en-US" dirty="0">
                <a:solidFill>
                  <a:srgbClr val="C00000"/>
                </a:solidFill>
              </a:rPr>
              <a:t> </a:t>
            </a:r>
            <a:r>
              <a:rPr lang="es-ES" altLang="en-US" dirty="0"/>
              <a:t>durante las fases de </a:t>
            </a:r>
            <a:r>
              <a:rPr lang="es-ES" altLang="en-US" dirty="0">
                <a:solidFill>
                  <a:srgbClr val="0066FF"/>
                </a:solidFill>
              </a:rPr>
              <a:t>análisis</a:t>
            </a:r>
            <a:r>
              <a:rPr lang="es-ES" altLang="en-US" dirty="0"/>
              <a:t>, </a:t>
            </a:r>
            <a:r>
              <a:rPr lang="es-ES" altLang="en-US" dirty="0">
                <a:solidFill>
                  <a:srgbClr val="0066FF"/>
                </a:solidFill>
              </a:rPr>
              <a:t>diseño </a:t>
            </a:r>
            <a:r>
              <a:rPr lang="es-ES" altLang="en-US" dirty="0"/>
              <a:t>e </a:t>
            </a:r>
            <a:r>
              <a:rPr lang="es-ES" altLang="en-US" dirty="0">
                <a:solidFill>
                  <a:srgbClr val="0066FF"/>
                </a:solidFill>
              </a:rPr>
              <a:t>implementación</a:t>
            </a:r>
          </a:p>
          <a:p>
            <a:pPr algn="just"/>
            <a:r>
              <a:rPr lang="es-ES" altLang="en-US" dirty="0"/>
              <a:t>Disipa las barreras entre el </a:t>
            </a:r>
            <a:r>
              <a:rPr lang="es-ES" altLang="en-US" i="1" dirty="0">
                <a:solidFill>
                  <a:srgbClr val="0066FF"/>
                </a:solidFill>
              </a:rPr>
              <a:t>qué</a:t>
            </a:r>
            <a:r>
              <a:rPr lang="es-ES" altLang="en-US" dirty="0">
                <a:solidFill>
                  <a:srgbClr val="0066FF"/>
                </a:solidFill>
              </a:rPr>
              <a:t> </a:t>
            </a:r>
            <a:r>
              <a:rPr lang="es-ES" altLang="en-US" dirty="0"/>
              <a:t>y el </a:t>
            </a:r>
            <a:r>
              <a:rPr lang="es-ES" altLang="en-US" i="1" dirty="0">
                <a:solidFill>
                  <a:srgbClr val="0066FF"/>
                </a:solidFill>
              </a:rPr>
              <a:t>cómo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>
            <a:extLst>
              <a:ext uri="{FF2B5EF4-FFF2-40B4-BE49-F238E27FC236}">
                <a16:creationId xmlns:a16="http://schemas.microsoft.com/office/drawing/2014/main" id="{E40C3714-1CA7-C148-C852-900E06E3D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/>
              <a:t>Desventajas de la POO</a:t>
            </a:r>
            <a:endParaRPr lang="en-US" altLang="en-US"/>
          </a:p>
        </p:txBody>
      </p:sp>
      <p:sp>
        <p:nvSpPr>
          <p:cNvPr id="11267" name="2 Marcador de contenido">
            <a:extLst>
              <a:ext uri="{FF2B5EF4-FFF2-40B4-BE49-F238E27FC236}">
                <a16:creationId xmlns:a16="http://schemas.microsoft.com/office/drawing/2014/main" id="{BEB47CAF-528B-58E7-5D92-B54DCE4C2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altLang="en-US" dirty="0"/>
              <a:t>Mayor </a:t>
            </a:r>
            <a:r>
              <a:rPr lang="es-ES" altLang="en-US" dirty="0">
                <a:solidFill>
                  <a:srgbClr val="0066FF"/>
                </a:solidFill>
              </a:rPr>
              <a:t>complejidad </a:t>
            </a:r>
            <a:r>
              <a:rPr lang="es-ES" altLang="en-US" dirty="0"/>
              <a:t>a la hora de entender el flujo de datos</a:t>
            </a:r>
          </a:p>
          <a:p>
            <a:pPr lvl="1" algn="just"/>
            <a:r>
              <a:rPr lang="es-ES" altLang="en-US" dirty="0"/>
              <a:t>Pérdida de linealidad</a:t>
            </a:r>
          </a:p>
          <a:p>
            <a:pPr algn="just"/>
            <a:r>
              <a:rPr lang="es-ES" altLang="en-US" dirty="0"/>
              <a:t>Requiere de un lenguaje de modelización de problemas más elaborado:</a:t>
            </a:r>
          </a:p>
          <a:p>
            <a:pPr lvl="1" algn="just"/>
            <a:r>
              <a:rPr lang="es-ES" altLang="en-US" i="1" dirty="0" err="1"/>
              <a:t>Unified</a:t>
            </a:r>
            <a:r>
              <a:rPr lang="es-ES" altLang="en-US" i="1" dirty="0"/>
              <a:t> </a:t>
            </a:r>
            <a:r>
              <a:rPr lang="es-ES" altLang="en-US" i="1" dirty="0" err="1"/>
              <a:t>Modelling</a:t>
            </a:r>
            <a:r>
              <a:rPr lang="es-ES" altLang="en-US" i="1" dirty="0"/>
              <a:t> </a:t>
            </a:r>
            <a:r>
              <a:rPr lang="es-ES" altLang="en-US" i="1" dirty="0" err="1"/>
              <a:t>Language</a:t>
            </a:r>
            <a:r>
              <a:rPr lang="es-ES" altLang="en-US" i="1" dirty="0"/>
              <a:t> </a:t>
            </a:r>
            <a:r>
              <a:rPr lang="es-ES" altLang="en-US" dirty="0"/>
              <a:t>(UML)</a:t>
            </a:r>
          </a:p>
          <a:p>
            <a:pPr lvl="1" algn="just"/>
            <a:r>
              <a:rPr lang="es-ES" altLang="en-US" dirty="0">
                <a:solidFill>
                  <a:srgbClr val="0066FF"/>
                </a:solidFill>
              </a:rPr>
              <a:t>Representaciones gráficas</a:t>
            </a:r>
            <a:r>
              <a:rPr lang="es-ES" altLang="en-US" dirty="0"/>
              <a:t> más complicadas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F0BCCAD-A5FC-E16D-B01A-B3CB05AA1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de la POO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FC0BB11-B898-BEF3-4FEC-1B4CC0C50BA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828800"/>
            <a:ext cx="39243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US" sz="2400" b="1" dirty="0"/>
              <a:t>Conceptos básicos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Objeto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Clase</a:t>
            </a:r>
          </a:p>
          <a:p>
            <a:pPr eaLnBrk="1" hangingPunct="1">
              <a:lnSpc>
                <a:spcPct val="90000"/>
              </a:lnSpc>
            </a:pPr>
            <a:endParaRPr lang="es-ES" altLang="en-US" sz="1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US" sz="2400" b="1" dirty="0"/>
              <a:t>Características de la OOP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Abstracción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Encapsulamiento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Modularidad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Jerarquía</a:t>
            </a:r>
          </a:p>
          <a:p>
            <a:pPr eaLnBrk="1" hangingPunct="1">
              <a:lnSpc>
                <a:spcPct val="90000"/>
              </a:lnSpc>
            </a:pPr>
            <a:endParaRPr lang="es-ES" altLang="en-US" sz="1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US" sz="2400" b="1" dirty="0"/>
              <a:t>Otros conceptos OOP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Tipos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400" dirty="0"/>
              <a:t>Persistencia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EDE9E72-9688-7268-B1AD-CF78B7E47B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91100" y="1828800"/>
            <a:ext cx="41529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s-ES" altLang="en-US" sz="2400" b="1" dirty="0"/>
              <a:t>Tipos de relaciones</a:t>
            </a:r>
          </a:p>
          <a:p>
            <a:pPr eaLnBrk="1" hangingPunct="1"/>
            <a:r>
              <a:rPr lang="es-ES" altLang="en-US" sz="2400" dirty="0"/>
              <a:t>Asociación</a:t>
            </a:r>
          </a:p>
          <a:p>
            <a:pPr eaLnBrk="1" hangingPunct="1"/>
            <a:r>
              <a:rPr lang="es-ES" altLang="en-US" sz="2400" dirty="0"/>
              <a:t>Herencia</a:t>
            </a:r>
          </a:p>
          <a:p>
            <a:pPr eaLnBrk="1" hangingPunct="1"/>
            <a:r>
              <a:rPr lang="es-ES" altLang="en-US" sz="2400" dirty="0"/>
              <a:t>Agregación</a:t>
            </a:r>
          </a:p>
          <a:p>
            <a:pPr eaLnBrk="1" hangingPunct="1"/>
            <a:r>
              <a:rPr lang="es-ES" altLang="en-US" sz="2400" dirty="0"/>
              <a:t>Instanciación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s-E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s-ES" altLang="en-US" sz="2400" b="1" dirty="0"/>
              <a:t>Representaciones gráficas</a:t>
            </a:r>
          </a:p>
          <a:p>
            <a:pPr eaLnBrk="1" hangingPunct="1"/>
            <a:r>
              <a:rPr lang="es-ES" altLang="en-US" sz="2400" dirty="0"/>
              <a:t>Diagramas estáticos (de clases, de objetos...)</a:t>
            </a:r>
          </a:p>
          <a:p>
            <a:pPr eaLnBrk="1" hangingPunct="1"/>
            <a:r>
              <a:rPr lang="es-ES" altLang="en-US" sz="2400" dirty="0"/>
              <a:t>Diagramas dinámicos (de interacción...)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1EDE673-0E0B-0193-7C02-318534CE75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18DDB96-66CC-7CFD-1D80-E673B49D8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62056" cy="5029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s-ES" sz="2400" dirty="0"/>
              <a:t>Nos permite trabajar con la </a:t>
            </a:r>
            <a:r>
              <a:rPr lang="es-ES" sz="2400" dirty="0">
                <a:solidFill>
                  <a:srgbClr val="0066FF"/>
                </a:solidFill>
              </a:rPr>
              <a:t>complejidad del mundo real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s-ES" sz="2000" dirty="0"/>
              <a:t>Resaltando los aspectos relevantes de los objetos de una clase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s-ES" sz="2000" dirty="0"/>
              <a:t>Ocultando los detalles particulares de cada objeto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s-ES" sz="2400" dirty="0"/>
              <a:t>Separaremos el </a:t>
            </a:r>
            <a:r>
              <a:rPr lang="es-ES" sz="2400" dirty="0">
                <a:solidFill>
                  <a:srgbClr val="0066FF"/>
                </a:solidFill>
              </a:rPr>
              <a:t>comportamiento</a:t>
            </a:r>
            <a:r>
              <a:rPr lang="es-ES" sz="2400" dirty="0"/>
              <a:t> de la </a:t>
            </a:r>
            <a:r>
              <a:rPr lang="es-ES" sz="2400" dirty="0">
                <a:solidFill>
                  <a:srgbClr val="0066FF"/>
                </a:solidFill>
              </a:rPr>
              <a:t>implementación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ES" sz="2400" dirty="0"/>
              <a:t>Es más importante </a:t>
            </a:r>
            <a:r>
              <a:rPr lang="es-ES" sz="2400" dirty="0">
                <a:solidFill>
                  <a:srgbClr val="0066FF"/>
                </a:solidFill>
              </a:rPr>
              <a:t>saber qué se hace</a:t>
            </a:r>
            <a:r>
              <a:rPr lang="es-ES" sz="2400" dirty="0"/>
              <a:t> en lugar de </a:t>
            </a:r>
            <a:r>
              <a:rPr lang="es-ES" sz="2400" dirty="0">
                <a:solidFill>
                  <a:srgbClr val="0066FF"/>
                </a:solidFill>
              </a:rPr>
              <a:t>cómo se hace</a:t>
            </a:r>
            <a:r>
              <a:rPr lang="es-ES" sz="2400" dirty="0"/>
              <a:t>: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>
                <a:solidFill>
                  <a:schemeClr val="tx2"/>
                </a:solidFill>
              </a:rPr>
              <a:t>Un sensor de temperatura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Se define porque...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mide la temperatura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nos muestra su valor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se puede calibrar...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No sabemos... (no nos importa)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cómo mide la temperatura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de qué está hecho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s-ES" dirty="0">
                <a:solidFill>
                  <a:schemeClr val="tx2"/>
                </a:solidFill>
              </a:rPr>
              <a:t>cómo se calibra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E17FF0C-D872-5CEB-8D29-DADF2726F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38" y="4044950"/>
            <a:ext cx="284162" cy="131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418C7DAF-3541-6EAA-3A99-688139343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5251450"/>
            <a:ext cx="1166812" cy="107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8CDB7D4A-F56F-39B6-CDB0-38C5393D8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6C2CADA0-9044-7554-6B00-F002D095A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6019800" cy="5029200"/>
          </a:xfrm>
        </p:spPr>
        <p:txBody>
          <a:bodyPr/>
          <a:lstStyle/>
          <a:p>
            <a:pPr eaLnBrk="1" hangingPunct="1"/>
            <a:r>
              <a:rPr lang="es-ES" altLang="en-US"/>
              <a:t>La abstracción </a:t>
            </a:r>
            <a:r>
              <a:rPr lang="es-ES" altLang="en-US">
                <a:solidFill>
                  <a:srgbClr val="0066FF"/>
                </a:solidFill>
              </a:rPr>
              <a:t>no es única</a:t>
            </a:r>
            <a:r>
              <a:rPr lang="es-ES" altLang="en-US"/>
              <a:t>:</a:t>
            </a:r>
            <a:br>
              <a:rPr lang="es-ES" altLang="en-US"/>
            </a:br>
            <a:br>
              <a:rPr lang="es-ES" altLang="en-US"/>
            </a:br>
            <a:r>
              <a:rPr lang="es-ES" altLang="en-US" sz="2400" b="1">
                <a:solidFill>
                  <a:schemeClr val="tx2"/>
                </a:solidFill>
              </a:rPr>
              <a:t>Un coche puede ser...</a:t>
            </a:r>
          </a:p>
          <a:p>
            <a:pPr lvl="1" eaLnBrk="1" hangingPunct="1"/>
            <a:r>
              <a:rPr lang="es-ES" altLang="en-US">
                <a:solidFill>
                  <a:schemeClr val="tx2"/>
                </a:solidFill>
              </a:rPr>
              <a:t>Una cosa con ruedas, motor, volante y pedales (conductor)</a:t>
            </a:r>
          </a:p>
          <a:p>
            <a:pPr lvl="1" eaLnBrk="1" hangingPunct="1"/>
            <a:r>
              <a:rPr lang="es-ES" altLang="en-US">
                <a:solidFill>
                  <a:schemeClr val="tx2"/>
                </a:solidFill>
              </a:rPr>
              <a:t>Algo capaz de transportar personas (taxista)</a:t>
            </a:r>
          </a:p>
          <a:p>
            <a:pPr lvl="1" eaLnBrk="1" hangingPunct="1"/>
            <a:r>
              <a:rPr lang="es-ES" altLang="en-US">
                <a:solidFill>
                  <a:schemeClr val="tx2"/>
                </a:solidFill>
              </a:rPr>
              <a:t>Una caja que se mueve (simulador de tráfico)</a:t>
            </a:r>
          </a:p>
          <a:p>
            <a:pPr lvl="1" eaLnBrk="1" hangingPunct="1"/>
            <a:r>
              <a:rPr lang="es-ES" altLang="en-US">
                <a:solidFill>
                  <a:schemeClr val="tx2"/>
                </a:solidFill>
              </a:rPr>
              <a:t>Conjunto de piezas (fabricante)</a:t>
            </a:r>
            <a:endParaRPr lang="es-ES" altLang="en-US"/>
          </a:p>
        </p:txBody>
      </p:sp>
      <p:pic>
        <p:nvPicPr>
          <p:cNvPr id="16388" name="Picture 1028">
            <a:extLst>
              <a:ext uri="{FF2B5EF4-FFF2-40B4-BE49-F238E27FC236}">
                <a16:creationId xmlns:a16="http://schemas.microsoft.com/office/drawing/2014/main" id="{DAB20E4C-6C32-F383-5730-845AEF0B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87588"/>
            <a:ext cx="1676400" cy="1141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1029">
            <a:extLst>
              <a:ext uri="{FF2B5EF4-FFF2-40B4-BE49-F238E27FC236}">
                <a16:creationId xmlns:a16="http://schemas.microsoft.com/office/drawing/2014/main" id="{6BAFE76F-D887-5D59-E7EE-6678AE653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657600"/>
            <a:ext cx="1320800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1030">
            <a:extLst>
              <a:ext uri="{FF2B5EF4-FFF2-40B4-BE49-F238E27FC236}">
                <a16:creationId xmlns:a16="http://schemas.microsoft.com/office/drawing/2014/main" id="{90127E31-BE94-4351-17C2-367170282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876800"/>
            <a:ext cx="7778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1031">
            <a:extLst>
              <a:ext uri="{FF2B5EF4-FFF2-40B4-BE49-F238E27FC236}">
                <a16:creationId xmlns:a16="http://schemas.microsoft.com/office/drawing/2014/main" id="{FE88646C-2EDA-C8FB-EB7F-3B5093CEC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638800"/>
            <a:ext cx="119697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812F-402E-16CC-AAD2-7B0442B7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F3E0B6C3-7862-243C-DB87-59D83049B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CEA0D71B-C971-0B5D-B38C-1EC57ED7F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546032" cy="5029200"/>
          </a:xfrm>
        </p:spPr>
        <p:txBody>
          <a:bodyPr/>
          <a:lstStyle/>
          <a:p>
            <a:pPr eaLnBrk="1" hangingPunct="1"/>
            <a:r>
              <a:rPr lang="es-ES" altLang="en-US" dirty="0"/>
              <a:t>La abstracción </a:t>
            </a:r>
            <a:r>
              <a:rPr lang="es-ES" altLang="en-US" dirty="0">
                <a:solidFill>
                  <a:srgbClr val="0066FF"/>
                </a:solidFill>
              </a:rPr>
              <a:t>no es única</a:t>
            </a:r>
            <a:r>
              <a:rPr lang="es-ES" altLang="en-US" dirty="0"/>
              <a:t>:</a:t>
            </a:r>
            <a:br>
              <a:rPr lang="es-ES" altLang="en-US" dirty="0"/>
            </a:br>
            <a:br>
              <a:rPr lang="es-ES" altLang="en-US" dirty="0"/>
            </a:br>
            <a:r>
              <a:rPr lang="es-ES" altLang="en-US" sz="2400" b="1" dirty="0">
                <a:solidFill>
                  <a:schemeClr val="tx2"/>
                </a:solidFill>
              </a:rPr>
              <a:t>Un paciente puede ser...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Historia clínica (para el médico): nombre, edad, diagnóstico, medicamentos, alergias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Una cama ocupada (para el área de logística/enfermería): número de habitación, turno de atención, disponibilidad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 caso estadístico (para salud pública): enfermedad, región, grupo etario</a:t>
            </a:r>
            <a:endParaRPr lang="es-E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54060-E9D5-4525-EA61-CFF544835023}"/>
              </a:ext>
            </a:extLst>
          </p:cNvPr>
          <p:cNvSpPr txBox="1"/>
          <p:nvPr/>
        </p:nvSpPr>
        <p:spPr>
          <a:xfrm>
            <a:off x="1141884" y="6021288"/>
            <a:ext cx="754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Cada rol </a:t>
            </a:r>
            <a:r>
              <a:rPr lang="es-CO" i="1" dirty="0"/>
              <a:t>abstrae</a:t>
            </a:r>
            <a:r>
              <a:rPr lang="es-CO" dirty="0"/>
              <a:t> solo lo que necesita del mismo objeto real.</a:t>
            </a:r>
          </a:p>
        </p:txBody>
      </p:sp>
    </p:spTree>
    <p:extLst>
      <p:ext uri="{BB962C8B-B14F-4D97-AF65-F5344CB8AC3E}">
        <p14:creationId xmlns:p14="http://schemas.microsoft.com/office/powerpoint/2010/main" val="151626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A7E4-3C2F-942A-1ACA-DAD4DE4D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3FAEEA63-1DAC-1879-C810-877372050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5EFDAACC-DB48-76D4-D38F-07B40E642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546032" cy="5029200"/>
          </a:xfrm>
        </p:spPr>
        <p:txBody>
          <a:bodyPr/>
          <a:lstStyle/>
          <a:p>
            <a:pPr eaLnBrk="1" hangingPunct="1"/>
            <a:r>
              <a:rPr lang="es-ES" altLang="en-US" dirty="0"/>
              <a:t>La abstracción </a:t>
            </a:r>
            <a:r>
              <a:rPr lang="es-ES" altLang="en-US" dirty="0">
                <a:solidFill>
                  <a:srgbClr val="0066FF"/>
                </a:solidFill>
              </a:rPr>
              <a:t>no es única</a:t>
            </a:r>
            <a:r>
              <a:rPr lang="es-ES" altLang="en-US" dirty="0"/>
              <a:t>:</a:t>
            </a:r>
            <a:br>
              <a:rPr lang="es-ES" altLang="en-US" dirty="0"/>
            </a:br>
            <a:br>
              <a:rPr lang="es-ES" altLang="en-US" dirty="0"/>
            </a:br>
            <a:r>
              <a:rPr lang="es-ES" altLang="en-US" sz="2400" b="1" dirty="0">
                <a:solidFill>
                  <a:schemeClr val="tx2"/>
                </a:solidFill>
              </a:rPr>
              <a:t>Un libro puede ser...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 objeto físico (para el bodeguero de una librería): peso, dimensiones, cantidad en inventario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Una obra intelectual (para el lector): título, autor, argumento, género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 activo (para el contador): precio de compra, precio de venta, margen</a:t>
            </a:r>
            <a:endParaRPr lang="es-E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7F43A-C0D2-5EC6-7975-1925E9D7C577}"/>
              </a:ext>
            </a:extLst>
          </p:cNvPr>
          <p:cNvSpPr txBox="1"/>
          <p:nvPr/>
        </p:nvSpPr>
        <p:spPr>
          <a:xfrm>
            <a:off x="1141884" y="6021288"/>
            <a:ext cx="7546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El mismo libro, tres abstracciones completamente distintas según el contexto.</a:t>
            </a:r>
          </a:p>
        </p:txBody>
      </p:sp>
    </p:spTree>
    <p:extLst>
      <p:ext uri="{BB962C8B-B14F-4D97-AF65-F5344CB8AC3E}">
        <p14:creationId xmlns:p14="http://schemas.microsoft.com/office/powerpoint/2010/main" val="79232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C93B-77B4-2BC3-6BAB-44B0AE24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51313D82-D916-52AB-CD37-72F8C4455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CA9A754B-8165-DDB2-9129-614CF96C6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546032" cy="5029200"/>
          </a:xfrm>
        </p:spPr>
        <p:txBody>
          <a:bodyPr/>
          <a:lstStyle/>
          <a:p>
            <a:pPr eaLnBrk="1" hangingPunct="1"/>
            <a:r>
              <a:rPr lang="es-ES" altLang="en-US" dirty="0"/>
              <a:t>La abstracción </a:t>
            </a:r>
            <a:r>
              <a:rPr lang="es-ES" altLang="en-US" dirty="0">
                <a:solidFill>
                  <a:srgbClr val="0066FF"/>
                </a:solidFill>
              </a:rPr>
              <a:t>no es única</a:t>
            </a:r>
            <a:r>
              <a:rPr lang="es-ES" altLang="en-US" dirty="0"/>
              <a:t>:</a:t>
            </a:r>
            <a:br>
              <a:rPr lang="es-ES" altLang="en-US" dirty="0"/>
            </a:br>
            <a:br>
              <a:rPr lang="es-ES" altLang="en-US" dirty="0"/>
            </a:br>
            <a:r>
              <a:rPr lang="es-ES" altLang="en-US" sz="2400" b="1" dirty="0">
                <a:solidFill>
                  <a:schemeClr val="tx2"/>
                </a:solidFill>
              </a:rPr>
              <a:t>Un vuelo puede ser...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Una ruta en el aire (para el piloto): coordenadas, altitud, velocidad, combustible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 producto vendible (para la aerolínea): número de vuelo, precio, clase, ocupación</a:t>
            </a:r>
          </a:p>
          <a:p>
            <a:pPr lvl="1" eaLnBrk="1" hangingPunct="1"/>
            <a:r>
              <a:rPr lang="es-CO" altLang="en-US" dirty="0">
                <a:solidFill>
                  <a:schemeClr val="tx2"/>
                </a:solidFill>
              </a:rPr>
              <a:t>Un punto en un mapa de conexiones (para un sistema de reservas): origen, destino, escala, duración</a:t>
            </a:r>
            <a:endParaRPr lang="es-ES" altLang="en-US" dirty="0"/>
          </a:p>
        </p:txBody>
      </p:sp>
    </p:spTree>
    <p:extLst>
      <p:ext uri="{BB962C8B-B14F-4D97-AF65-F5344CB8AC3E}">
        <p14:creationId xmlns:p14="http://schemas.microsoft.com/office/powerpoint/2010/main" val="207955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A8CB-E209-6118-2823-C744E987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65301FA6-457F-2BDE-ABAA-11C6542D8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Abstracción</a:t>
            </a: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4C7671B4-86CA-6DE3-F9EF-0F6E2640B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988840"/>
            <a:ext cx="7546032" cy="4464496"/>
          </a:xfrm>
        </p:spPr>
        <p:txBody>
          <a:bodyPr/>
          <a:lstStyle/>
          <a:p>
            <a:pPr algn="just" eaLnBrk="1" hangingPunct="1"/>
            <a:r>
              <a:rPr lang="es-CO" altLang="en-US" dirty="0"/>
              <a:t>La abstracción no es mentir sobre el objeto, es elegir intencionalmente qué aspectos son relevantes para el problema que se quiere resolver.</a:t>
            </a:r>
          </a:p>
          <a:p>
            <a:pPr algn="just" eaLnBrk="1" hangingPunct="1"/>
            <a:endParaRPr lang="en-US" altLang="en-US" sz="2400" b="1" dirty="0">
              <a:solidFill>
                <a:schemeClr val="tx2"/>
              </a:solidFill>
            </a:endParaRPr>
          </a:p>
          <a:p>
            <a:pPr algn="just" eaLnBrk="1" hangingPunct="1"/>
            <a:r>
              <a:rPr lang="es-CO" sz="2400" dirty="0"/>
              <a:t>"La abstracción es el proceso de identificar y representar únicamente las características y comportamientos relevantes de un objeto del mundo real, según el contexto del problema que se quiere resolver, ignorando los detalles que no son necesarios."</a:t>
            </a:r>
            <a:endParaRPr lang="es-ES" alt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449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638587F-1373-C08B-379D-A00F18DE9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Objeto y Clase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F77CD79-A312-9045-0052-DEA81DF3DC6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s-ES" altLang="en-US" sz="2400" dirty="0"/>
              <a:t>Un </a:t>
            </a:r>
            <a:r>
              <a:rPr lang="es-ES" altLang="en-US" sz="2400" b="1" dirty="0">
                <a:solidFill>
                  <a:srgbClr val="0066FF"/>
                </a:solidFill>
              </a:rPr>
              <a:t>objeto</a:t>
            </a:r>
            <a:r>
              <a:rPr lang="es-ES" altLang="en-US" sz="2400" dirty="0"/>
              <a:t> es algo de lo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s-ES" altLang="en-US" sz="2400" dirty="0"/>
              <a:t>que hablamos y que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s-ES" altLang="en-US" sz="2400" dirty="0"/>
              <a:t>podemos manipular</a:t>
            </a:r>
          </a:p>
          <a:p>
            <a:pPr eaLnBrk="1" hangingPunct="1"/>
            <a:r>
              <a:rPr lang="es-ES" altLang="en-US" sz="2000" dirty="0">
                <a:solidFill>
                  <a:srgbClr val="0066FF"/>
                </a:solidFill>
              </a:rPr>
              <a:t>Existen</a:t>
            </a:r>
            <a:r>
              <a:rPr lang="es-ES" altLang="en-US" sz="2000" dirty="0"/>
              <a:t> en el mundo real (o en nuestro entendimiento de este)</a:t>
            </a:r>
          </a:p>
        </p:txBody>
      </p:sp>
      <p:sp>
        <p:nvSpPr>
          <p:cNvPr id="18436" name="Rectangle 44">
            <a:extLst>
              <a:ext uri="{FF2B5EF4-FFF2-40B4-BE49-F238E27FC236}">
                <a16:creationId xmlns:a16="http://schemas.microsoft.com/office/drawing/2014/main" id="{CF665A08-4354-94E0-8635-5AF88F89C6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s-ES" altLang="en-US" sz="2400" dirty="0"/>
              <a:t>Una </a:t>
            </a:r>
            <a:r>
              <a:rPr lang="es-ES" altLang="en-US" sz="2400" b="1" dirty="0">
                <a:solidFill>
                  <a:srgbClr val="0066FF"/>
                </a:solidFill>
              </a:rPr>
              <a:t>clase</a:t>
            </a:r>
            <a:r>
              <a:rPr lang="es-ES" altLang="en-US" sz="2400" dirty="0"/>
              <a:t> describe los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s-ES" altLang="en-US" sz="2400" dirty="0"/>
              <a:t>objetos del mismo tipo</a:t>
            </a:r>
          </a:p>
          <a:p>
            <a:pPr eaLnBrk="1" hangingPunct="1"/>
            <a:r>
              <a:rPr lang="es-ES" altLang="en-US" sz="2000" dirty="0"/>
              <a:t>Todos los objetos son </a:t>
            </a:r>
            <a:r>
              <a:rPr lang="es-ES" altLang="en-US" sz="2000" dirty="0">
                <a:solidFill>
                  <a:srgbClr val="0066FF"/>
                </a:solidFill>
              </a:rPr>
              <a:t>instancias</a:t>
            </a:r>
            <a:r>
              <a:rPr lang="es-ES" altLang="en-US" sz="2000" dirty="0"/>
              <a:t> de una clase</a:t>
            </a:r>
          </a:p>
          <a:p>
            <a:pPr eaLnBrk="1" hangingPunct="1"/>
            <a:r>
              <a:rPr lang="es-ES" altLang="en-US" sz="2000" dirty="0"/>
              <a:t>Describe las </a:t>
            </a:r>
            <a:r>
              <a:rPr lang="es-ES" altLang="en-US" sz="2000" dirty="0">
                <a:solidFill>
                  <a:srgbClr val="0066FF"/>
                </a:solidFill>
              </a:rPr>
              <a:t>propiedades</a:t>
            </a:r>
            <a:r>
              <a:rPr lang="es-ES" altLang="en-US" sz="2000" dirty="0"/>
              <a:t> y el </a:t>
            </a:r>
            <a:r>
              <a:rPr lang="es-ES" altLang="en-US" sz="2000" dirty="0">
                <a:solidFill>
                  <a:srgbClr val="0066FF"/>
                </a:solidFill>
              </a:rPr>
              <a:t>comportamiento</a:t>
            </a:r>
            <a:r>
              <a:rPr lang="es-ES" altLang="en-US" sz="2000" dirty="0"/>
              <a:t> de un tipo de objetos</a:t>
            </a:r>
          </a:p>
          <a:p>
            <a:pPr eaLnBrk="1" hangingPunct="1"/>
            <a:endParaRPr lang="es-ES" altLang="en-US" sz="2000" dirty="0"/>
          </a:p>
        </p:txBody>
      </p:sp>
      <p:grpSp>
        <p:nvGrpSpPr>
          <p:cNvPr id="65566" name="Group 30">
            <a:extLst>
              <a:ext uri="{FF2B5EF4-FFF2-40B4-BE49-F238E27FC236}">
                <a16:creationId xmlns:a16="http://schemas.microsoft.com/office/drawing/2014/main" id="{C818E870-964D-D3D2-4F26-C2B71EC5A0B3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4346575"/>
            <a:ext cx="2057400" cy="1444625"/>
            <a:chOff x="3600" y="1200"/>
            <a:chExt cx="1296" cy="910"/>
          </a:xfrm>
        </p:grpSpPr>
        <p:sp>
          <p:nvSpPr>
            <p:cNvPr id="18445" name="Rectangle 31">
              <a:extLst>
                <a:ext uri="{FF2B5EF4-FFF2-40B4-BE49-F238E27FC236}">
                  <a16:creationId xmlns:a16="http://schemas.microsoft.com/office/drawing/2014/main" id="{44D28C06-2042-2C60-D5EA-0E611CECD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200"/>
              <a:ext cx="1296" cy="910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8446" name="Rectangle 32">
              <a:extLst>
                <a:ext uri="{FF2B5EF4-FFF2-40B4-BE49-F238E27FC236}">
                  <a16:creationId xmlns:a16="http://schemas.microsoft.com/office/drawing/2014/main" id="{785CF4BD-E468-494B-98DE-F4D0C725B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" y="1255"/>
              <a:ext cx="5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500" b="1">
                  <a:solidFill>
                    <a:srgbClr val="000000"/>
                  </a:solidFill>
                  <a:latin typeface="Helvetica" panose="020B0604020202020204" pitchFamily="34" charset="0"/>
                </a:rPr>
                <a:t>Clase</a:t>
              </a:r>
              <a:endParaRPr lang="es-E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8447" name="Line 33">
              <a:extLst>
                <a:ext uri="{FF2B5EF4-FFF2-40B4-BE49-F238E27FC236}">
                  <a16:creationId xmlns:a16="http://schemas.microsoft.com/office/drawing/2014/main" id="{BD5A741F-9174-CEC9-6D05-3AB00FB53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494"/>
              <a:ext cx="129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448" name="Line 34">
              <a:extLst>
                <a:ext uri="{FF2B5EF4-FFF2-40B4-BE49-F238E27FC236}">
                  <a16:creationId xmlns:a16="http://schemas.microsoft.com/office/drawing/2014/main" id="{C5057257-617D-391B-3DA8-061FC755B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828"/>
              <a:ext cx="129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449" name="Rectangle 35">
              <a:extLst>
                <a:ext uri="{FF2B5EF4-FFF2-40B4-BE49-F238E27FC236}">
                  <a16:creationId xmlns:a16="http://schemas.microsoft.com/office/drawing/2014/main" id="{3AE843B9-57FA-2C58-ED03-F95107027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1574"/>
              <a:ext cx="66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100">
                  <a:solidFill>
                    <a:srgbClr val="000000"/>
                  </a:solidFill>
                  <a:latin typeface="Helvetica" panose="020B0604020202020204" pitchFamily="34" charset="0"/>
                </a:rPr>
                <a:t>Atributos</a:t>
              </a:r>
              <a:endParaRPr lang="es-E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8450" name="Rectangle 36">
              <a:extLst>
                <a:ext uri="{FF2B5EF4-FFF2-40B4-BE49-F238E27FC236}">
                  <a16:creationId xmlns:a16="http://schemas.microsoft.com/office/drawing/2014/main" id="{0CD76FF2-8538-CF1B-896E-DED5899CA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1873"/>
              <a:ext cx="64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100" dirty="0">
                  <a:solidFill>
                    <a:srgbClr val="000000"/>
                  </a:solidFill>
                  <a:latin typeface="Helvetica" panose="020B0604020202020204" pitchFamily="34" charset="0"/>
                </a:rPr>
                <a:t>Métodos</a:t>
              </a:r>
              <a:endParaRPr lang="es-ES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583" name="Group 47">
            <a:extLst>
              <a:ext uri="{FF2B5EF4-FFF2-40B4-BE49-F238E27FC236}">
                <a16:creationId xmlns:a16="http://schemas.microsoft.com/office/drawing/2014/main" id="{C0B98B7D-37A4-6BFA-F94C-CF1A22EDB205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343400"/>
            <a:ext cx="2057400" cy="1447800"/>
            <a:chOff x="3569" y="2736"/>
            <a:chExt cx="1296" cy="912"/>
          </a:xfrm>
        </p:grpSpPr>
        <p:sp>
          <p:nvSpPr>
            <p:cNvPr id="18439" name="Rectangle 38">
              <a:extLst>
                <a:ext uri="{FF2B5EF4-FFF2-40B4-BE49-F238E27FC236}">
                  <a16:creationId xmlns:a16="http://schemas.microsoft.com/office/drawing/2014/main" id="{A0BAD0DE-BEAE-B681-2063-76E986795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2736"/>
              <a:ext cx="1296" cy="910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s-E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8440" name="Rectangle 39">
              <a:extLst>
                <a:ext uri="{FF2B5EF4-FFF2-40B4-BE49-F238E27FC236}">
                  <a16:creationId xmlns:a16="http://schemas.microsoft.com/office/drawing/2014/main" id="{18934D90-BE47-8E10-8C42-965A939CC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2784"/>
              <a:ext cx="12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500" b="1">
                  <a:solidFill>
                    <a:srgbClr val="000000"/>
                  </a:solidFill>
                  <a:latin typeface="Helvetica" panose="020B0604020202020204" pitchFamily="34" charset="0"/>
                </a:rPr>
                <a:t>Objeto:Clase</a:t>
              </a:r>
              <a:endParaRPr lang="es-E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8441" name="Line 40">
              <a:extLst>
                <a:ext uri="{FF2B5EF4-FFF2-40B4-BE49-F238E27FC236}">
                  <a16:creationId xmlns:a16="http://schemas.microsoft.com/office/drawing/2014/main" id="{FC3F30DB-22DC-881C-C261-23FAFEE9C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9" y="3030"/>
              <a:ext cx="129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442" name="Rectangle 42">
              <a:extLst>
                <a:ext uri="{FF2B5EF4-FFF2-40B4-BE49-F238E27FC236}">
                  <a16:creationId xmlns:a16="http://schemas.microsoft.com/office/drawing/2014/main" id="{D83D0B30-DC44-2A4D-5C1D-AEA628C10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3072"/>
              <a:ext cx="113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100">
                  <a:solidFill>
                    <a:srgbClr val="000000"/>
                  </a:solidFill>
                  <a:latin typeface="Helvetica" panose="020B0604020202020204" pitchFamily="34" charset="0"/>
                </a:rPr>
                <a:t>Atributo1=valor</a:t>
              </a:r>
              <a:endParaRPr lang="es-E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8443" name="Rectangle 45">
              <a:extLst>
                <a:ext uri="{FF2B5EF4-FFF2-40B4-BE49-F238E27FC236}">
                  <a16:creationId xmlns:a16="http://schemas.microsoft.com/office/drawing/2014/main" id="{011B66BE-6ABD-1819-348F-D725BB6B8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3264"/>
              <a:ext cx="113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100">
                  <a:solidFill>
                    <a:srgbClr val="000000"/>
                  </a:solidFill>
                  <a:latin typeface="Helvetica" panose="020B0604020202020204" pitchFamily="34" charset="0"/>
                </a:rPr>
                <a:t>Atributo2=valor</a:t>
              </a:r>
              <a:endParaRPr lang="es-E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8444" name="Rectangle 46">
              <a:extLst>
                <a:ext uri="{FF2B5EF4-FFF2-40B4-BE49-F238E27FC236}">
                  <a16:creationId xmlns:a16="http://schemas.microsoft.com/office/drawing/2014/main" id="{EA912A94-9546-2ADC-1336-16AE2D480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3446"/>
              <a:ext cx="14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7500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8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6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n-US" sz="2100">
                  <a:solidFill>
                    <a:srgbClr val="000000"/>
                  </a:solidFill>
                  <a:latin typeface="Helvetica" panose="020B0604020202020204" pitchFamily="34" charset="0"/>
                </a:rPr>
                <a:t>...</a:t>
              </a:r>
              <a:endParaRPr lang="es-ES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29A6FA-5021-55B0-DE61-649972694394}"/>
              </a:ext>
            </a:extLst>
          </p:cNvPr>
          <p:cNvSpPr txBox="1"/>
          <p:nvPr/>
        </p:nvSpPr>
        <p:spPr>
          <a:xfrm>
            <a:off x="1141884" y="6055591"/>
            <a:ext cx="754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Una clase es una abstracción del mundo real.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7FCF-5EA7-BAED-6DC2-EAC52B81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2949A84-74DA-2B29-06C8-5EC9FB7C2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Objeto y Clase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BAD78D-BD8C-A00D-64AF-F8B9AAB3037E}"/>
              </a:ext>
            </a:extLst>
          </p:cNvPr>
          <p:cNvSpPr txBox="1"/>
          <p:nvPr/>
        </p:nvSpPr>
        <p:spPr>
          <a:xfrm>
            <a:off x="1141884" y="6055591"/>
            <a:ext cx="754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Una clase es una abstracción del mundo real.</a:t>
            </a:r>
          </a:p>
        </p:txBody>
      </p:sp>
      <p:pic>
        <p:nvPicPr>
          <p:cNvPr id="5" name="Imagen 15">
            <a:extLst>
              <a:ext uri="{FF2B5EF4-FFF2-40B4-BE49-F238E27FC236}">
                <a16:creationId xmlns:a16="http://schemas.microsoft.com/office/drawing/2014/main" id="{1CE8F9F5-68C3-DA26-EA27-0BCC142FF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2713470"/>
            <a:ext cx="50482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F2DB-766B-4097-F138-EF6AD900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0A07CFE-87E1-607E-7601-09B6F71F5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Objeto y Clase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F31D9-EE36-EAD8-8605-EB246ACE7520}"/>
              </a:ext>
            </a:extLst>
          </p:cNvPr>
          <p:cNvSpPr txBox="1"/>
          <p:nvPr/>
        </p:nvSpPr>
        <p:spPr>
          <a:xfrm>
            <a:off x="1043608" y="5013176"/>
            <a:ext cx="75460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dirty="0"/>
              <a:t>Las clases tiene dos vistas: una pública y una privada. La vista pública, también llamado interfaz, establece los aspectos visibles de la clase y, por lo tanto, nos ofrece los métodos que podemos utilizar. </a:t>
            </a:r>
          </a:p>
          <a:p>
            <a:pPr algn="ctr"/>
            <a:endParaRPr lang="es-CO" sz="1400" dirty="0"/>
          </a:p>
          <a:p>
            <a:pPr algn="ctr"/>
            <a:r>
              <a:rPr lang="es-CO" sz="1400" dirty="0"/>
              <a:t>La vista privada, también llamada implantación, encapsula todos los detalles de la estructura de datos y la implementación de los métodos.</a:t>
            </a:r>
          </a:p>
        </p:txBody>
      </p:sp>
      <p:pic>
        <p:nvPicPr>
          <p:cNvPr id="5" name="Imagen 15">
            <a:extLst>
              <a:ext uri="{FF2B5EF4-FFF2-40B4-BE49-F238E27FC236}">
                <a16:creationId xmlns:a16="http://schemas.microsoft.com/office/drawing/2014/main" id="{612B3FAD-233F-E5BF-4ED2-257DDA0F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2713470"/>
            <a:ext cx="50482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FB31-ADC8-67C4-0B7E-B4C9E6DE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88C9ACC-7266-F777-67BB-0C3198EC2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Objeto y Clase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9DE1ED-4880-5CD2-105B-7C10C1BE7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914415"/>
              </p:ext>
            </p:extLst>
          </p:nvPr>
        </p:nvGraphicFramePr>
        <p:xfrm>
          <a:off x="1619672" y="1812816"/>
          <a:ext cx="2592288" cy="2194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1784657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/>
                        <a:t>Paciente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61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nombre: String</a:t>
                      </a:r>
                      <a:br>
                        <a:rPr lang="es-CO" dirty="0"/>
                      </a:br>
                      <a:r>
                        <a:rPr lang="es-CO" dirty="0"/>
                        <a:t>edad: </a:t>
                      </a:r>
                      <a:r>
                        <a:rPr lang="es-CO" dirty="0" err="1"/>
                        <a:t>int</a:t>
                      </a:r>
                      <a:endParaRPr lang="es-CO" dirty="0"/>
                    </a:p>
                    <a:p>
                      <a:pPr algn="ctr">
                        <a:buNone/>
                      </a:pPr>
                      <a:r>
                        <a:rPr lang="es-CO" dirty="0"/>
                        <a:t>diagnostico: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 err="1"/>
                        <a:t>eps</a:t>
                      </a:r>
                      <a:r>
                        <a:rPr lang="es-CO" dirty="0"/>
                        <a:t>: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69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registrar() </a:t>
                      </a:r>
                    </a:p>
                    <a:p>
                      <a:pPr algn="ctr">
                        <a:buNone/>
                      </a:pPr>
                      <a:r>
                        <a:rPr lang="es-CO" dirty="0" err="1"/>
                        <a:t>actualizarDiagnóstico</a:t>
                      </a:r>
                      <a:r>
                        <a:rPr lang="es-CO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440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713E3B-FFA5-08B1-D222-C98F4B812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245601"/>
              </p:ext>
            </p:extLst>
          </p:nvPr>
        </p:nvGraphicFramePr>
        <p:xfrm>
          <a:off x="5148064" y="2132856"/>
          <a:ext cx="3240360" cy="15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429350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800" kern="1200">
                          <a:solidFill>
                            <a:schemeClr val="tx1"/>
                          </a:solidFill>
                        </a:rPr>
                        <a:t>paciente1 : Paciente</a:t>
                      </a:r>
                      <a:endParaRPr lang="es-CO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848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800" kern="1200" dirty="0">
                          <a:solidFill>
                            <a:schemeClr val="tx1"/>
                          </a:solidFill>
                        </a:rPr>
                        <a:t>nombre = "Carlos Ruiz“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800" kern="1200" dirty="0">
                          <a:solidFill>
                            <a:schemeClr val="tx1"/>
                          </a:solidFill>
                        </a:rPr>
                        <a:t>edad = 45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800" kern="1200" dirty="0">
                          <a:solidFill>
                            <a:schemeClr val="tx1"/>
                          </a:solidFill>
                        </a:rPr>
                        <a:t>diagnóstico = "Hipertensión“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s-CO" sz="1800" kern="1200" dirty="0" err="1">
                          <a:solidFill>
                            <a:schemeClr val="tx1"/>
                          </a:solidFill>
                        </a:rPr>
                        <a:t>eps</a:t>
                      </a:r>
                      <a:r>
                        <a:rPr lang="es-CO" sz="1800" kern="1200" dirty="0">
                          <a:solidFill>
                            <a:schemeClr val="tx1"/>
                          </a:solidFill>
                        </a:rPr>
                        <a:t> = "Nueva EPS"</a:t>
                      </a:r>
                      <a:endParaRPr lang="es-CO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13693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E8F654-0BF7-03EF-A3F9-0428BE2C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894254"/>
              </p:ext>
            </p:extLst>
          </p:nvPr>
        </p:nvGraphicFramePr>
        <p:xfrm>
          <a:off x="1642998" y="4450080"/>
          <a:ext cx="2592288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369413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Libro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277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 err="1"/>
                        <a:t>isbn</a:t>
                      </a:r>
                      <a:r>
                        <a:rPr lang="es-CO" dirty="0"/>
                        <a:t>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título: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autor: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disponible: </a:t>
                      </a:r>
                      <a:r>
                        <a:rPr lang="es-CO" dirty="0" err="1"/>
                        <a:t>boolean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30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prestar()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devolver()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8587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1A2EF1-656F-F540-588A-D6AD6AB24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887570"/>
              </p:ext>
            </p:extLst>
          </p:nvPr>
        </p:nvGraphicFramePr>
        <p:xfrm>
          <a:off x="5148064" y="4632960"/>
          <a:ext cx="324036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4176866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/>
                        <a:t>libro1 : Libro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871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 err="1"/>
                        <a:t>isbn</a:t>
                      </a:r>
                      <a:r>
                        <a:rPr lang="es-CO" dirty="0"/>
                        <a:t> = "978-958-700-421-6“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título = "Cien años de soledad“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autor = "García Márquez“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disponible =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61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5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BFC6-CD75-46CE-3C40-1CC3A6D7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7F97A8A-4404-43B5-0BAB-ACCB71508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Objeto y Clase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0759FC-F60B-263B-262B-2F9BF609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918725"/>
              </p:ext>
            </p:extLst>
          </p:nvPr>
        </p:nvGraphicFramePr>
        <p:xfrm>
          <a:off x="1619672" y="3139440"/>
          <a:ext cx="2865512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65512">
                  <a:extLst>
                    <a:ext uri="{9D8B030D-6E8A-4147-A177-3AD203B41FA5}">
                      <a16:colId xmlns:a16="http://schemas.microsoft.com/office/drawing/2014/main" val="4084296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/>
                        <a:t>Vuelo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870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número: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origen: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destino: String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ocupación: </a:t>
                      </a:r>
                      <a:r>
                        <a:rPr lang="es-CO" dirty="0" err="1"/>
                        <a:t>int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9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despegar()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aterrizar()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19886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5D8506-8637-AB70-303A-68380C421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396917"/>
              </p:ext>
            </p:extLst>
          </p:nvPr>
        </p:nvGraphicFramePr>
        <p:xfrm>
          <a:off x="5292080" y="3459480"/>
          <a:ext cx="3096344" cy="15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2034510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/>
                        <a:t>vuelo1 : Vuelo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869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dirty="0"/>
                        <a:t>número = "AV9401“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origen = "Bogotá (BOG)“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destino = "Medellín (MDE)“</a:t>
                      </a:r>
                    </a:p>
                    <a:p>
                      <a:pPr algn="ctr">
                        <a:buNone/>
                      </a:pPr>
                      <a:r>
                        <a:rPr lang="es-CO" dirty="0"/>
                        <a:t>ocupación = 142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122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136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05BBF68-C264-B4B3-723C-319A37167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Encapsulamiento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BABBBF8-0B49-2EBB-6841-95415C7FC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8001000" cy="5029200"/>
          </a:xfrm>
        </p:spPr>
        <p:txBody>
          <a:bodyPr/>
          <a:lstStyle/>
          <a:p>
            <a:pPr eaLnBrk="1" hangingPunct="1"/>
            <a:r>
              <a:rPr lang="es-ES" altLang="en-US">
                <a:solidFill>
                  <a:srgbClr val="0066FF"/>
                </a:solidFill>
              </a:rPr>
              <a:t>Ninguna parte</a:t>
            </a:r>
            <a:r>
              <a:rPr lang="es-ES" altLang="en-US"/>
              <a:t> de un sistema complejo </a:t>
            </a:r>
            <a:r>
              <a:rPr lang="es-ES" altLang="en-US">
                <a:solidFill>
                  <a:srgbClr val="0066FF"/>
                </a:solidFill>
              </a:rPr>
              <a:t>debe</a:t>
            </a:r>
            <a:r>
              <a:rPr lang="es-ES" altLang="en-US"/>
              <a:t> </a:t>
            </a:r>
            <a:r>
              <a:rPr lang="es-ES" altLang="en-US">
                <a:solidFill>
                  <a:srgbClr val="0066FF"/>
                </a:solidFill>
              </a:rPr>
              <a:t>depender</a:t>
            </a:r>
            <a:r>
              <a:rPr lang="es-ES" altLang="en-US"/>
              <a:t> de los detalles internos de </a:t>
            </a:r>
            <a:r>
              <a:rPr lang="es-ES" altLang="en-US">
                <a:solidFill>
                  <a:srgbClr val="0066FF"/>
                </a:solidFill>
              </a:rPr>
              <a:t>otra</a:t>
            </a:r>
            <a:r>
              <a:rPr lang="es-ES" altLang="en-US"/>
              <a:t>.</a:t>
            </a:r>
          </a:p>
          <a:p>
            <a:pPr eaLnBrk="1" hangingPunct="1"/>
            <a:r>
              <a:rPr lang="es-ES" altLang="en-US">
                <a:solidFill>
                  <a:srgbClr val="0066FF"/>
                </a:solidFill>
              </a:rPr>
              <a:t>Complementa</a:t>
            </a:r>
            <a:r>
              <a:rPr lang="es-ES" altLang="en-US"/>
              <a:t> a la abstracción</a:t>
            </a:r>
          </a:p>
          <a:p>
            <a:pPr eaLnBrk="1" hangingPunct="1"/>
            <a:r>
              <a:rPr lang="es-ES" altLang="en-US"/>
              <a:t>Se consigue:</a:t>
            </a:r>
          </a:p>
          <a:p>
            <a:pPr lvl="1" eaLnBrk="1" hangingPunct="1"/>
            <a:r>
              <a:rPr lang="es-ES" altLang="en-US">
                <a:solidFill>
                  <a:srgbClr val="0066FF"/>
                </a:solidFill>
              </a:rPr>
              <a:t>Separando</a:t>
            </a:r>
            <a:r>
              <a:rPr lang="es-ES" altLang="en-US"/>
              <a:t> la </a:t>
            </a:r>
            <a:r>
              <a:rPr lang="es-ES" altLang="en-US">
                <a:solidFill>
                  <a:srgbClr val="0066FF"/>
                </a:solidFill>
              </a:rPr>
              <a:t>interfaz</a:t>
            </a:r>
            <a:r>
              <a:rPr lang="es-ES" altLang="en-US"/>
              <a:t> de su </a:t>
            </a:r>
            <a:r>
              <a:rPr lang="es-ES" altLang="en-US">
                <a:solidFill>
                  <a:srgbClr val="0066FF"/>
                </a:solidFill>
              </a:rPr>
              <a:t>implementación</a:t>
            </a:r>
          </a:p>
          <a:p>
            <a:pPr lvl="1" eaLnBrk="1" hangingPunct="1"/>
            <a:r>
              <a:rPr lang="es-ES" altLang="en-US">
                <a:solidFill>
                  <a:srgbClr val="0066FF"/>
                </a:solidFill>
              </a:rPr>
              <a:t>Ocultando</a:t>
            </a:r>
            <a:r>
              <a:rPr lang="es-ES" altLang="en-US"/>
              <a:t> la </a:t>
            </a:r>
            <a:r>
              <a:rPr lang="es-ES" altLang="en-US">
                <a:solidFill>
                  <a:srgbClr val="0066FF"/>
                </a:solidFill>
              </a:rPr>
              <a:t>información interna</a:t>
            </a:r>
            <a:r>
              <a:rPr lang="es-ES" altLang="en-US"/>
              <a:t> de un objeto</a:t>
            </a:r>
          </a:p>
          <a:p>
            <a:pPr lvl="1" eaLnBrk="1" hangingPunct="1"/>
            <a:r>
              <a:rPr lang="es-ES" altLang="en-US">
                <a:solidFill>
                  <a:srgbClr val="0066FF"/>
                </a:solidFill>
              </a:rPr>
              <a:t>Escondiendo</a:t>
            </a:r>
            <a:r>
              <a:rPr lang="es-ES" altLang="en-US"/>
              <a:t> la </a:t>
            </a:r>
            <a:r>
              <a:rPr lang="es-ES" altLang="en-US">
                <a:solidFill>
                  <a:srgbClr val="0066FF"/>
                </a:solidFill>
              </a:rPr>
              <a:t>estructura</a:t>
            </a:r>
            <a:r>
              <a:rPr lang="es-ES" altLang="en-US"/>
              <a:t> e </a:t>
            </a:r>
            <a:r>
              <a:rPr lang="es-ES" altLang="en-US">
                <a:solidFill>
                  <a:srgbClr val="0066FF"/>
                </a:solidFill>
              </a:rPr>
              <a:t>implementación</a:t>
            </a:r>
            <a:r>
              <a:rPr lang="es-ES" altLang="en-US"/>
              <a:t> de los </a:t>
            </a:r>
            <a:r>
              <a:rPr lang="es-ES" altLang="en-US">
                <a:solidFill>
                  <a:srgbClr val="0066FF"/>
                </a:solidFill>
              </a:rPr>
              <a:t>métodos</a:t>
            </a:r>
            <a:r>
              <a:rPr lang="es-ES" altLang="en-US"/>
              <a:t> (algoritmos).</a:t>
            </a:r>
          </a:p>
          <a:p>
            <a:pPr lvl="1" eaLnBrk="1" hangingPunct="1"/>
            <a:r>
              <a:rPr lang="es-ES" altLang="en-US">
                <a:solidFill>
                  <a:srgbClr val="0066FF"/>
                </a:solidFill>
              </a:rPr>
              <a:t>Exponiendo</a:t>
            </a:r>
            <a:r>
              <a:rPr lang="es-ES" altLang="en-US"/>
              <a:t> solo </a:t>
            </a:r>
            <a:r>
              <a:rPr lang="es-ES" altLang="en-US">
                <a:solidFill>
                  <a:srgbClr val="0066FF"/>
                </a:solidFill>
              </a:rPr>
              <a:t>la forma de interactuar</a:t>
            </a:r>
            <a:r>
              <a:rPr lang="es-ES" altLang="en-US"/>
              <a:t> con el objeto</a:t>
            </a:r>
          </a:p>
          <a:p>
            <a:pPr eaLnBrk="1" hangingPunct="1"/>
            <a:endParaRPr lang="es-E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760C-85FE-A503-3749-0FFAAAB0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3D26368-3663-C2B2-DD83-306FB5B23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Encapsulamiento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9C6CC44-9FA6-BD9D-3EB6-1BB1B6272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8001000" cy="5029200"/>
          </a:xfrm>
        </p:spPr>
        <p:txBody>
          <a:bodyPr/>
          <a:lstStyle/>
          <a:p>
            <a:pPr marL="355600" marR="7620" algn="just">
              <a:buClr>
                <a:srgbClr val="D32D50"/>
              </a:buClr>
              <a:buFont typeface="Wingdings"/>
              <a:buChar char=""/>
              <a:tabLst>
                <a:tab pos="355600" algn="l"/>
              </a:tabLst>
            </a:pPr>
            <a:r>
              <a:rPr lang="es-CO" sz="2000" b="1" dirty="0">
                <a:latin typeface="Verdana"/>
                <a:cs typeface="Verdana"/>
              </a:rPr>
              <a:t>La </a:t>
            </a:r>
            <a:r>
              <a:rPr lang="es-CO" sz="2000" b="1" spc="-5" dirty="0">
                <a:latin typeface="Verdana"/>
                <a:cs typeface="Verdana"/>
              </a:rPr>
              <a:t>encapsulación consiste </a:t>
            </a:r>
            <a:r>
              <a:rPr lang="es-CO" sz="2000" b="1" spc="-10" dirty="0">
                <a:latin typeface="Verdana"/>
                <a:cs typeface="Verdana"/>
              </a:rPr>
              <a:t>en </a:t>
            </a:r>
            <a:r>
              <a:rPr lang="es-CO" sz="2000" b="1" dirty="0">
                <a:latin typeface="Verdana"/>
                <a:cs typeface="Verdana"/>
              </a:rPr>
              <a:t>formar </a:t>
            </a:r>
            <a:r>
              <a:rPr lang="es-CO" sz="2000" b="1" spc="-5" dirty="0">
                <a:latin typeface="Verdana"/>
                <a:cs typeface="Verdana"/>
              </a:rPr>
              <a:t>un “paquete” </a:t>
            </a:r>
            <a:r>
              <a:rPr lang="es-CO" sz="2000" b="1" spc="5" dirty="0">
                <a:latin typeface="Verdana"/>
                <a:cs typeface="Verdana"/>
              </a:rPr>
              <a:t>con </a:t>
            </a:r>
            <a:r>
              <a:rPr lang="es-CO" sz="2000" b="1" dirty="0">
                <a:latin typeface="Verdana"/>
                <a:cs typeface="Verdana"/>
              </a:rPr>
              <a:t>los </a:t>
            </a:r>
            <a:r>
              <a:rPr lang="es-CO" sz="2000" b="1" spc="-670" dirty="0">
                <a:latin typeface="Verdana"/>
                <a:cs typeface="Verdana"/>
              </a:rPr>
              <a:t> </a:t>
            </a:r>
            <a:r>
              <a:rPr lang="es-CO" sz="2000" b="1" dirty="0">
                <a:latin typeface="Verdana"/>
                <a:cs typeface="Verdana"/>
              </a:rPr>
              <a:t>atributos </a:t>
            </a:r>
            <a:r>
              <a:rPr lang="es-CO" sz="2000" b="1" spc="-5" dirty="0">
                <a:latin typeface="Verdana"/>
                <a:cs typeface="Verdana"/>
              </a:rPr>
              <a:t>(variables) </a:t>
            </a:r>
            <a:r>
              <a:rPr lang="es-CO" sz="2000" b="1" dirty="0">
                <a:latin typeface="Verdana"/>
                <a:cs typeface="Verdana"/>
              </a:rPr>
              <a:t>y </a:t>
            </a:r>
            <a:r>
              <a:rPr lang="es-CO" sz="2000" b="1" spc="5" dirty="0">
                <a:latin typeface="Verdana"/>
                <a:cs typeface="Verdana"/>
              </a:rPr>
              <a:t>el </a:t>
            </a:r>
            <a:r>
              <a:rPr lang="es-CO" sz="2000" b="1" spc="-5" dirty="0">
                <a:latin typeface="Verdana"/>
                <a:cs typeface="Verdana"/>
              </a:rPr>
              <a:t>comportamiento (métodos) de </a:t>
            </a:r>
            <a:r>
              <a:rPr lang="es-CO" sz="2000" b="1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un</a:t>
            </a:r>
            <a:r>
              <a:rPr lang="es-CO" sz="2000" b="1" spc="-15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objeto.</a:t>
            </a:r>
            <a:endParaRPr lang="es-CO"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D32D50"/>
              </a:buClr>
              <a:buFont typeface="Wingdings"/>
              <a:buChar char=""/>
            </a:pPr>
            <a:endParaRPr lang="es-CO" dirty="0">
              <a:latin typeface="Verdana"/>
              <a:cs typeface="Verdana"/>
            </a:endParaRPr>
          </a:p>
          <a:p>
            <a:pPr marL="355600" marR="5080" algn="just">
              <a:buClr>
                <a:srgbClr val="D32D50"/>
              </a:buClr>
              <a:buFont typeface="Wingdings"/>
              <a:buChar char=""/>
              <a:tabLst>
                <a:tab pos="355600" algn="l"/>
              </a:tabLst>
            </a:pPr>
            <a:r>
              <a:rPr lang="es-CO" sz="2000" b="1" dirty="0">
                <a:latin typeface="Verdana"/>
                <a:cs typeface="Verdana"/>
              </a:rPr>
              <a:t>Los métodos forman </a:t>
            </a:r>
            <a:r>
              <a:rPr lang="es-CO" sz="2000" b="1" spc="-5" dirty="0">
                <a:latin typeface="Verdana"/>
                <a:cs typeface="Verdana"/>
              </a:rPr>
              <a:t>la membrana exterior de un </a:t>
            </a:r>
            <a:r>
              <a:rPr lang="es-CO" sz="2000" b="1" dirty="0">
                <a:latin typeface="Verdana"/>
                <a:cs typeface="Verdana"/>
              </a:rPr>
              <a:t>objeto y </a:t>
            </a:r>
            <a:r>
              <a:rPr lang="es-CO" sz="2000" b="1" spc="5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“esconden” los</a:t>
            </a:r>
            <a:r>
              <a:rPr lang="es-CO" sz="2000" b="1" spc="10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detalles</a:t>
            </a:r>
            <a:r>
              <a:rPr lang="es-CO" sz="2000" b="1" spc="10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de</a:t>
            </a:r>
            <a:r>
              <a:rPr lang="es-CO" sz="2000" b="1" spc="5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implementación</a:t>
            </a:r>
            <a:r>
              <a:rPr lang="es-CO" sz="2000" b="1" spc="10" dirty="0">
                <a:latin typeface="Verdana"/>
                <a:cs typeface="Verdana"/>
              </a:rPr>
              <a:t> </a:t>
            </a:r>
            <a:r>
              <a:rPr lang="es-CO" sz="2000" b="1" dirty="0">
                <a:latin typeface="Verdana"/>
                <a:cs typeface="Verdana"/>
              </a:rPr>
              <a:t>al</a:t>
            </a:r>
            <a:r>
              <a:rPr lang="es-CO" sz="2000" b="1" spc="-10" dirty="0">
                <a:latin typeface="Verdana"/>
                <a:cs typeface="Verdana"/>
              </a:rPr>
              <a:t> </a:t>
            </a:r>
            <a:r>
              <a:rPr lang="es-CO" sz="2000" b="1" spc="-5" dirty="0">
                <a:latin typeface="Verdana"/>
                <a:cs typeface="Verdana"/>
              </a:rPr>
              <a:t>usuario.</a:t>
            </a:r>
            <a:endParaRPr lang="es-ES" altLang="en-US" sz="200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2023B88-D5D9-C780-0829-2D021278865A}"/>
              </a:ext>
            </a:extLst>
          </p:cNvPr>
          <p:cNvGrpSpPr/>
          <p:nvPr/>
        </p:nvGrpSpPr>
        <p:grpSpPr>
          <a:xfrm>
            <a:off x="3923928" y="4509120"/>
            <a:ext cx="2628900" cy="1485900"/>
            <a:chOff x="3810000" y="3456940"/>
            <a:chExt cx="2628900" cy="14859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18A0BE-4D50-0BD9-81A2-FC2A4E376979}"/>
                </a:ext>
              </a:extLst>
            </p:cNvPr>
            <p:cNvSpPr/>
            <p:nvPr/>
          </p:nvSpPr>
          <p:spPr>
            <a:xfrm>
              <a:off x="4892040" y="3456939"/>
              <a:ext cx="1546860" cy="1485900"/>
            </a:xfrm>
            <a:custGeom>
              <a:avLst/>
              <a:gdLst/>
              <a:ahLst/>
              <a:cxnLst/>
              <a:rect l="l" t="t" r="r" b="b"/>
              <a:pathLst>
                <a:path w="1546860" h="1485900">
                  <a:moveTo>
                    <a:pt x="1292860" y="713740"/>
                  </a:moveTo>
                  <a:lnTo>
                    <a:pt x="1290320" y="688340"/>
                  </a:lnTo>
                  <a:lnTo>
                    <a:pt x="1285240" y="662940"/>
                  </a:lnTo>
                  <a:lnTo>
                    <a:pt x="1282979" y="642620"/>
                  </a:lnTo>
                  <a:lnTo>
                    <a:pt x="1282700" y="640080"/>
                  </a:lnTo>
                  <a:lnTo>
                    <a:pt x="1276604" y="619760"/>
                  </a:lnTo>
                  <a:lnTo>
                    <a:pt x="1275080" y="614680"/>
                  </a:lnTo>
                  <a:lnTo>
                    <a:pt x="1271117" y="596900"/>
                  </a:lnTo>
                  <a:lnTo>
                    <a:pt x="1270000" y="591820"/>
                  </a:lnTo>
                  <a:lnTo>
                    <a:pt x="1270000" y="716280"/>
                  </a:lnTo>
                  <a:lnTo>
                    <a:pt x="1270000" y="764540"/>
                  </a:lnTo>
                  <a:lnTo>
                    <a:pt x="1267460" y="789940"/>
                  </a:lnTo>
                  <a:lnTo>
                    <a:pt x="1264920" y="812800"/>
                  </a:lnTo>
                  <a:lnTo>
                    <a:pt x="1259840" y="835660"/>
                  </a:lnTo>
                  <a:lnTo>
                    <a:pt x="1254760" y="861060"/>
                  </a:lnTo>
                  <a:lnTo>
                    <a:pt x="1254760" y="858520"/>
                  </a:lnTo>
                  <a:lnTo>
                    <a:pt x="1231900" y="927100"/>
                  </a:lnTo>
                  <a:lnTo>
                    <a:pt x="1221740" y="947420"/>
                  </a:lnTo>
                  <a:lnTo>
                    <a:pt x="1209040" y="967740"/>
                  </a:lnTo>
                  <a:lnTo>
                    <a:pt x="1211580" y="967740"/>
                  </a:lnTo>
                  <a:lnTo>
                    <a:pt x="1186180" y="1008380"/>
                  </a:lnTo>
                  <a:lnTo>
                    <a:pt x="1186180" y="1005840"/>
                  </a:lnTo>
                  <a:lnTo>
                    <a:pt x="1155700" y="1043940"/>
                  </a:lnTo>
                  <a:lnTo>
                    <a:pt x="1158240" y="1043940"/>
                  </a:lnTo>
                  <a:lnTo>
                    <a:pt x="1125220" y="1079500"/>
                  </a:lnTo>
                  <a:lnTo>
                    <a:pt x="1125220" y="1076960"/>
                  </a:lnTo>
                  <a:lnTo>
                    <a:pt x="1089660" y="1109980"/>
                  </a:lnTo>
                  <a:lnTo>
                    <a:pt x="1089660" y="1107440"/>
                  </a:lnTo>
                  <a:lnTo>
                    <a:pt x="1051560" y="1137920"/>
                  </a:lnTo>
                  <a:lnTo>
                    <a:pt x="1051560" y="1135380"/>
                  </a:lnTo>
                  <a:lnTo>
                    <a:pt x="1010920" y="1160780"/>
                  </a:lnTo>
                  <a:lnTo>
                    <a:pt x="988060" y="1170940"/>
                  </a:lnTo>
                  <a:lnTo>
                    <a:pt x="967740" y="1181100"/>
                  </a:lnTo>
                  <a:lnTo>
                    <a:pt x="922020" y="1196340"/>
                  </a:lnTo>
                  <a:lnTo>
                    <a:pt x="896620" y="1203960"/>
                  </a:lnTo>
                  <a:lnTo>
                    <a:pt x="899160" y="1203960"/>
                  </a:lnTo>
                  <a:lnTo>
                    <a:pt x="873760" y="1209040"/>
                  </a:lnTo>
                  <a:lnTo>
                    <a:pt x="848360" y="1211580"/>
                  </a:lnTo>
                  <a:lnTo>
                    <a:pt x="822960" y="1216660"/>
                  </a:lnTo>
                  <a:lnTo>
                    <a:pt x="800100" y="1216660"/>
                  </a:lnTo>
                  <a:lnTo>
                    <a:pt x="773430" y="1219085"/>
                  </a:lnTo>
                  <a:lnTo>
                    <a:pt x="772160" y="1219200"/>
                  </a:lnTo>
                  <a:lnTo>
                    <a:pt x="773417" y="1219085"/>
                  </a:lnTo>
                  <a:lnTo>
                    <a:pt x="746760" y="1216660"/>
                  </a:lnTo>
                  <a:lnTo>
                    <a:pt x="723900" y="1216660"/>
                  </a:lnTo>
                  <a:lnTo>
                    <a:pt x="698500" y="1211580"/>
                  </a:lnTo>
                  <a:lnTo>
                    <a:pt x="673100" y="1209040"/>
                  </a:lnTo>
                  <a:lnTo>
                    <a:pt x="647700" y="1203960"/>
                  </a:lnTo>
                  <a:lnTo>
                    <a:pt x="650240" y="1203960"/>
                  </a:lnTo>
                  <a:lnTo>
                    <a:pt x="624840" y="1196340"/>
                  </a:lnTo>
                  <a:lnTo>
                    <a:pt x="579120" y="1181100"/>
                  </a:lnTo>
                  <a:lnTo>
                    <a:pt x="558800" y="1170940"/>
                  </a:lnTo>
                  <a:lnTo>
                    <a:pt x="535940" y="1160780"/>
                  </a:lnTo>
                  <a:lnTo>
                    <a:pt x="499364" y="1137920"/>
                  </a:lnTo>
                  <a:lnTo>
                    <a:pt x="495300" y="1135380"/>
                  </a:lnTo>
                  <a:lnTo>
                    <a:pt x="495300" y="1137920"/>
                  </a:lnTo>
                  <a:lnTo>
                    <a:pt x="460375" y="1109980"/>
                  </a:lnTo>
                  <a:lnTo>
                    <a:pt x="457200" y="1107440"/>
                  </a:lnTo>
                  <a:lnTo>
                    <a:pt x="457200" y="1109980"/>
                  </a:lnTo>
                  <a:lnTo>
                    <a:pt x="424370" y="1079500"/>
                  </a:lnTo>
                  <a:lnTo>
                    <a:pt x="421640" y="1076960"/>
                  </a:lnTo>
                  <a:lnTo>
                    <a:pt x="421640" y="1079500"/>
                  </a:lnTo>
                  <a:lnTo>
                    <a:pt x="388620" y="1043940"/>
                  </a:lnTo>
                  <a:lnTo>
                    <a:pt x="391160" y="1043940"/>
                  </a:lnTo>
                  <a:lnTo>
                    <a:pt x="362712" y="1008380"/>
                  </a:lnTo>
                  <a:lnTo>
                    <a:pt x="360680" y="1005840"/>
                  </a:lnTo>
                  <a:lnTo>
                    <a:pt x="360680" y="1008380"/>
                  </a:lnTo>
                  <a:lnTo>
                    <a:pt x="335280" y="967740"/>
                  </a:lnTo>
                  <a:lnTo>
                    <a:pt x="314960" y="927100"/>
                  </a:lnTo>
                  <a:lnTo>
                    <a:pt x="292938" y="861060"/>
                  </a:lnTo>
                  <a:lnTo>
                    <a:pt x="292100" y="858520"/>
                  </a:lnTo>
                  <a:lnTo>
                    <a:pt x="292100" y="861060"/>
                  </a:lnTo>
                  <a:lnTo>
                    <a:pt x="287020" y="835660"/>
                  </a:lnTo>
                  <a:lnTo>
                    <a:pt x="281940" y="812800"/>
                  </a:lnTo>
                  <a:lnTo>
                    <a:pt x="279400" y="789940"/>
                  </a:lnTo>
                  <a:lnTo>
                    <a:pt x="276860" y="764540"/>
                  </a:lnTo>
                  <a:lnTo>
                    <a:pt x="276860" y="716280"/>
                  </a:lnTo>
                  <a:lnTo>
                    <a:pt x="279400" y="690880"/>
                  </a:lnTo>
                  <a:lnTo>
                    <a:pt x="281940" y="668020"/>
                  </a:lnTo>
                  <a:lnTo>
                    <a:pt x="287020" y="642620"/>
                  </a:lnTo>
                  <a:lnTo>
                    <a:pt x="287020" y="645160"/>
                  </a:lnTo>
                  <a:lnTo>
                    <a:pt x="287528" y="642620"/>
                  </a:lnTo>
                  <a:lnTo>
                    <a:pt x="292100" y="619760"/>
                  </a:lnTo>
                  <a:lnTo>
                    <a:pt x="292100" y="622300"/>
                  </a:lnTo>
                  <a:lnTo>
                    <a:pt x="292862" y="619760"/>
                  </a:lnTo>
                  <a:lnTo>
                    <a:pt x="299720" y="596900"/>
                  </a:lnTo>
                  <a:lnTo>
                    <a:pt x="299720" y="599440"/>
                  </a:lnTo>
                  <a:lnTo>
                    <a:pt x="300558" y="596900"/>
                  </a:lnTo>
                  <a:lnTo>
                    <a:pt x="314960" y="553720"/>
                  </a:lnTo>
                  <a:lnTo>
                    <a:pt x="335280" y="513080"/>
                  </a:lnTo>
                  <a:lnTo>
                    <a:pt x="360680" y="472440"/>
                  </a:lnTo>
                  <a:lnTo>
                    <a:pt x="360680" y="474980"/>
                  </a:lnTo>
                  <a:lnTo>
                    <a:pt x="362712" y="472440"/>
                  </a:lnTo>
                  <a:lnTo>
                    <a:pt x="391160" y="436880"/>
                  </a:lnTo>
                  <a:lnTo>
                    <a:pt x="388620" y="436880"/>
                  </a:lnTo>
                  <a:lnTo>
                    <a:pt x="421640" y="401320"/>
                  </a:lnTo>
                  <a:lnTo>
                    <a:pt x="421640" y="403860"/>
                  </a:lnTo>
                  <a:lnTo>
                    <a:pt x="424370" y="401320"/>
                  </a:lnTo>
                  <a:lnTo>
                    <a:pt x="457200" y="370840"/>
                  </a:lnTo>
                  <a:lnTo>
                    <a:pt x="495300" y="342900"/>
                  </a:lnTo>
                  <a:lnTo>
                    <a:pt x="495300" y="345440"/>
                  </a:lnTo>
                  <a:lnTo>
                    <a:pt x="499364" y="342900"/>
                  </a:lnTo>
                  <a:lnTo>
                    <a:pt x="535940" y="320040"/>
                  </a:lnTo>
                  <a:lnTo>
                    <a:pt x="558800" y="309880"/>
                  </a:lnTo>
                  <a:lnTo>
                    <a:pt x="579120" y="299720"/>
                  </a:lnTo>
                  <a:lnTo>
                    <a:pt x="624840" y="284480"/>
                  </a:lnTo>
                  <a:lnTo>
                    <a:pt x="650240" y="276860"/>
                  </a:lnTo>
                  <a:lnTo>
                    <a:pt x="647700" y="276860"/>
                  </a:lnTo>
                  <a:lnTo>
                    <a:pt x="698500" y="266700"/>
                  </a:lnTo>
                  <a:lnTo>
                    <a:pt x="698500" y="269240"/>
                  </a:lnTo>
                  <a:lnTo>
                    <a:pt x="711200" y="266700"/>
                  </a:lnTo>
                  <a:lnTo>
                    <a:pt x="723900" y="264160"/>
                  </a:lnTo>
                  <a:lnTo>
                    <a:pt x="746760" y="264160"/>
                  </a:lnTo>
                  <a:lnTo>
                    <a:pt x="773430" y="261747"/>
                  </a:lnTo>
                  <a:lnTo>
                    <a:pt x="800100" y="264160"/>
                  </a:lnTo>
                  <a:lnTo>
                    <a:pt x="822960" y="264160"/>
                  </a:lnTo>
                  <a:lnTo>
                    <a:pt x="848360" y="269240"/>
                  </a:lnTo>
                  <a:lnTo>
                    <a:pt x="848360" y="266700"/>
                  </a:lnTo>
                  <a:lnTo>
                    <a:pt x="899160" y="276860"/>
                  </a:lnTo>
                  <a:lnTo>
                    <a:pt x="896620" y="276860"/>
                  </a:lnTo>
                  <a:lnTo>
                    <a:pt x="922020" y="284480"/>
                  </a:lnTo>
                  <a:lnTo>
                    <a:pt x="967740" y="299720"/>
                  </a:lnTo>
                  <a:lnTo>
                    <a:pt x="988060" y="309880"/>
                  </a:lnTo>
                  <a:lnTo>
                    <a:pt x="1010920" y="320040"/>
                  </a:lnTo>
                  <a:lnTo>
                    <a:pt x="1051560" y="345440"/>
                  </a:lnTo>
                  <a:lnTo>
                    <a:pt x="1051560" y="342900"/>
                  </a:lnTo>
                  <a:lnTo>
                    <a:pt x="1089660" y="370840"/>
                  </a:lnTo>
                  <a:lnTo>
                    <a:pt x="1125220" y="403860"/>
                  </a:lnTo>
                  <a:lnTo>
                    <a:pt x="1125220" y="401320"/>
                  </a:lnTo>
                  <a:lnTo>
                    <a:pt x="1158240" y="436880"/>
                  </a:lnTo>
                  <a:lnTo>
                    <a:pt x="1155700" y="436880"/>
                  </a:lnTo>
                  <a:lnTo>
                    <a:pt x="1186180" y="474980"/>
                  </a:lnTo>
                  <a:lnTo>
                    <a:pt x="1186180" y="472440"/>
                  </a:lnTo>
                  <a:lnTo>
                    <a:pt x="1211580" y="513080"/>
                  </a:lnTo>
                  <a:lnTo>
                    <a:pt x="1209040" y="513080"/>
                  </a:lnTo>
                  <a:lnTo>
                    <a:pt x="1221740" y="533400"/>
                  </a:lnTo>
                  <a:lnTo>
                    <a:pt x="1231900" y="553720"/>
                  </a:lnTo>
                  <a:lnTo>
                    <a:pt x="1247140" y="599440"/>
                  </a:lnTo>
                  <a:lnTo>
                    <a:pt x="1247140" y="596900"/>
                  </a:lnTo>
                  <a:lnTo>
                    <a:pt x="1254760" y="622300"/>
                  </a:lnTo>
                  <a:lnTo>
                    <a:pt x="1254760" y="619760"/>
                  </a:lnTo>
                  <a:lnTo>
                    <a:pt x="1259840" y="645160"/>
                  </a:lnTo>
                  <a:lnTo>
                    <a:pt x="1259840" y="642620"/>
                  </a:lnTo>
                  <a:lnTo>
                    <a:pt x="1264920" y="668020"/>
                  </a:lnTo>
                  <a:lnTo>
                    <a:pt x="1267460" y="690880"/>
                  </a:lnTo>
                  <a:lnTo>
                    <a:pt x="1270000" y="716280"/>
                  </a:lnTo>
                  <a:lnTo>
                    <a:pt x="1270000" y="591820"/>
                  </a:lnTo>
                  <a:lnTo>
                    <a:pt x="1259840" y="568960"/>
                  </a:lnTo>
                  <a:lnTo>
                    <a:pt x="1252220" y="546100"/>
                  </a:lnTo>
                  <a:lnTo>
                    <a:pt x="1242060" y="523240"/>
                  </a:lnTo>
                  <a:lnTo>
                    <a:pt x="1229360" y="502920"/>
                  </a:lnTo>
                  <a:lnTo>
                    <a:pt x="1216660" y="480060"/>
                  </a:lnTo>
                  <a:lnTo>
                    <a:pt x="1211897" y="472440"/>
                  </a:lnTo>
                  <a:lnTo>
                    <a:pt x="1203960" y="459740"/>
                  </a:lnTo>
                  <a:lnTo>
                    <a:pt x="1173480" y="421640"/>
                  </a:lnTo>
                  <a:lnTo>
                    <a:pt x="1154607" y="401320"/>
                  </a:lnTo>
                  <a:lnTo>
                    <a:pt x="1140460" y="386080"/>
                  </a:lnTo>
                  <a:lnTo>
                    <a:pt x="1102360" y="353060"/>
                  </a:lnTo>
                  <a:lnTo>
                    <a:pt x="1088504" y="342900"/>
                  </a:lnTo>
                  <a:lnTo>
                    <a:pt x="1064260" y="325120"/>
                  </a:lnTo>
                  <a:lnTo>
                    <a:pt x="1041400" y="312420"/>
                  </a:lnTo>
                  <a:lnTo>
                    <a:pt x="1021080" y="299720"/>
                  </a:lnTo>
                  <a:lnTo>
                    <a:pt x="975360" y="279400"/>
                  </a:lnTo>
                  <a:lnTo>
                    <a:pt x="952500" y="271780"/>
                  </a:lnTo>
                  <a:lnTo>
                    <a:pt x="939787" y="266700"/>
                  </a:lnTo>
                  <a:lnTo>
                    <a:pt x="927100" y="261620"/>
                  </a:lnTo>
                  <a:lnTo>
                    <a:pt x="904240" y="256540"/>
                  </a:lnTo>
                  <a:lnTo>
                    <a:pt x="853440" y="246380"/>
                  </a:lnTo>
                  <a:lnTo>
                    <a:pt x="800100" y="241300"/>
                  </a:lnTo>
                  <a:lnTo>
                    <a:pt x="746760" y="241300"/>
                  </a:lnTo>
                  <a:lnTo>
                    <a:pt x="693420" y="246380"/>
                  </a:lnTo>
                  <a:lnTo>
                    <a:pt x="642620" y="256540"/>
                  </a:lnTo>
                  <a:lnTo>
                    <a:pt x="619760" y="261620"/>
                  </a:lnTo>
                  <a:lnTo>
                    <a:pt x="594360" y="271780"/>
                  </a:lnTo>
                  <a:lnTo>
                    <a:pt x="571500" y="279400"/>
                  </a:lnTo>
                  <a:lnTo>
                    <a:pt x="525780" y="299720"/>
                  </a:lnTo>
                  <a:lnTo>
                    <a:pt x="505460" y="312420"/>
                  </a:lnTo>
                  <a:lnTo>
                    <a:pt x="482600" y="325120"/>
                  </a:lnTo>
                  <a:lnTo>
                    <a:pt x="444500" y="353060"/>
                  </a:lnTo>
                  <a:lnTo>
                    <a:pt x="406400" y="386080"/>
                  </a:lnTo>
                  <a:lnTo>
                    <a:pt x="373380" y="421640"/>
                  </a:lnTo>
                  <a:lnTo>
                    <a:pt x="342900" y="459740"/>
                  </a:lnTo>
                  <a:lnTo>
                    <a:pt x="317500" y="502920"/>
                  </a:lnTo>
                  <a:lnTo>
                    <a:pt x="304800" y="523240"/>
                  </a:lnTo>
                  <a:lnTo>
                    <a:pt x="294640" y="546100"/>
                  </a:lnTo>
                  <a:lnTo>
                    <a:pt x="287020" y="568960"/>
                  </a:lnTo>
                  <a:lnTo>
                    <a:pt x="276860" y="591820"/>
                  </a:lnTo>
                  <a:lnTo>
                    <a:pt x="271780" y="614680"/>
                  </a:lnTo>
                  <a:lnTo>
                    <a:pt x="264160" y="640080"/>
                  </a:lnTo>
                  <a:lnTo>
                    <a:pt x="259080" y="662940"/>
                  </a:lnTo>
                  <a:lnTo>
                    <a:pt x="254000" y="713740"/>
                  </a:lnTo>
                  <a:lnTo>
                    <a:pt x="254000" y="767080"/>
                  </a:lnTo>
                  <a:lnTo>
                    <a:pt x="256540" y="792492"/>
                  </a:lnTo>
                  <a:lnTo>
                    <a:pt x="259080" y="815340"/>
                  </a:lnTo>
                  <a:lnTo>
                    <a:pt x="264160" y="840740"/>
                  </a:lnTo>
                  <a:lnTo>
                    <a:pt x="271780" y="866140"/>
                  </a:lnTo>
                  <a:lnTo>
                    <a:pt x="276860" y="889000"/>
                  </a:lnTo>
                  <a:lnTo>
                    <a:pt x="284480" y="911860"/>
                  </a:lnTo>
                  <a:lnTo>
                    <a:pt x="304800" y="957580"/>
                  </a:lnTo>
                  <a:lnTo>
                    <a:pt x="317500" y="977900"/>
                  </a:lnTo>
                  <a:lnTo>
                    <a:pt x="330200" y="1000760"/>
                  </a:lnTo>
                  <a:lnTo>
                    <a:pt x="373380" y="1059180"/>
                  </a:lnTo>
                  <a:lnTo>
                    <a:pt x="406400" y="1094740"/>
                  </a:lnTo>
                  <a:lnTo>
                    <a:pt x="482600" y="1155700"/>
                  </a:lnTo>
                  <a:lnTo>
                    <a:pt x="505460" y="1168400"/>
                  </a:lnTo>
                  <a:lnTo>
                    <a:pt x="525780" y="1181100"/>
                  </a:lnTo>
                  <a:lnTo>
                    <a:pt x="571500" y="1201420"/>
                  </a:lnTo>
                  <a:lnTo>
                    <a:pt x="594360" y="1209040"/>
                  </a:lnTo>
                  <a:lnTo>
                    <a:pt x="619760" y="1219200"/>
                  </a:lnTo>
                  <a:lnTo>
                    <a:pt x="642620" y="1224280"/>
                  </a:lnTo>
                  <a:lnTo>
                    <a:pt x="693420" y="1234440"/>
                  </a:lnTo>
                  <a:lnTo>
                    <a:pt x="746760" y="1239520"/>
                  </a:lnTo>
                  <a:lnTo>
                    <a:pt x="800100" y="1239520"/>
                  </a:lnTo>
                  <a:lnTo>
                    <a:pt x="853440" y="1234440"/>
                  </a:lnTo>
                  <a:lnTo>
                    <a:pt x="904240" y="1224280"/>
                  </a:lnTo>
                  <a:lnTo>
                    <a:pt x="927100" y="1219200"/>
                  </a:lnTo>
                  <a:lnTo>
                    <a:pt x="952500" y="1209040"/>
                  </a:lnTo>
                  <a:lnTo>
                    <a:pt x="975360" y="1201420"/>
                  </a:lnTo>
                  <a:lnTo>
                    <a:pt x="1021080" y="1181100"/>
                  </a:lnTo>
                  <a:lnTo>
                    <a:pt x="1041400" y="1168400"/>
                  </a:lnTo>
                  <a:lnTo>
                    <a:pt x="1064260" y="1155700"/>
                  </a:lnTo>
                  <a:lnTo>
                    <a:pt x="1086485" y="1137920"/>
                  </a:lnTo>
                  <a:lnTo>
                    <a:pt x="1121410" y="1109980"/>
                  </a:lnTo>
                  <a:lnTo>
                    <a:pt x="1140460" y="1094740"/>
                  </a:lnTo>
                  <a:lnTo>
                    <a:pt x="1154607" y="1079500"/>
                  </a:lnTo>
                  <a:lnTo>
                    <a:pt x="1173480" y="1059180"/>
                  </a:lnTo>
                  <a:lnTo>
                    <a:pt x="1203960" y="1021080"/>
                  </a:lnTo>
                  <a:lnTo>
                    <a:pt x="1211897" y="1008380"/>
                  </a:lnTo>
                  <a:lnTo>
                    <a:pt x="1216660" y="1000760"/>
                  </a:lnTo>
                  <a:lnTo>
                    <a:pt x="1229360" y="977900"/>
                  </a:lnTo>
                  <a:lnTo>
                    <a:pt x="1242060" y="957580"/>
                  </a:lnTo>
                  <a:lnTo>
                    <a:pt x="1252220" y="934720"/>
                  </a:lnTo>
                  <a:lnTo>
                    <a:pt x="1259840" y="911860"/>
                  </a:lnTo>
                  <a:lnTo>
                    <a:pt x="1270000" y="889000"/>
                  </a:lnTo>
                  <a:lnTo>
                    <a:pt x="1275080" y="866140"/>
                  </a:lnTo>
                  <a:lnTo>
                    <a:pt x="1276604" y="861060"/>
                  </a:lnTo>
                  <a:lnTo>
                    <a:pt x="1282700" y="840740"/>
                  </a:lnTo>
                  <a:lnTo>
                    <a:pt x="1285240" y="815340"/>
                  </a:lnTo>
                  <a:lnTo>
                    <a:pt x="1290320" y="792492"/>
                  </a:lnTo>
                  <a:lnTo>
                    <a:pt x="1292860" y="767080"/>
                  </a:lnTo>
                  <a:lnTo>
                    <a:pt x="1292860" y="713740"/>
                  </a:lnTo>
                  <a:close/>
                </a:path>
                <a:path w="1546860" h="1485900">
                  <a:moveTo>
                    <a:pt x="1546860" y="749300"/>
                  </a:moveTo>
                  <a:lnTo>
                    <a:pt x="1541780" y="673100"/>
                  </a:lnTo>
                  <a:lnTo>
                    <a:pt x="1531620" y="596900"/>
                  </a:lnTo>
                  <a:lnTo>
                    <a:pt x="1524000" y="568325"/>
                  </a:lnTo>
                  <a:lnTo>
                    <a:pt x="1524000" y="711200"/>
                  </a:lnTo>
                  <a:lnTo>
                    <a:pt x="1524000" y="787400"/>
                  </a:lnTo>
                  <a:lnTo>
                    <a:pt x="1521460" y="825500"/>
                  </a:lnTo>
                  <a:lnTo>
                    <a:pt x="1521460" y="812800"/>
                  </a:lnTo>
                  <a:lnTo>
                    <a:pt x="1516380" y="850900"/>
                  </a:lnTo>
                  <a:lnTo>
                    <a:pt x="1501140" y="927100"/>
                  </a:lnTo>
                  <a:lnTo>
                    <a:pt x="1490980" y="965200"/>
                  </a:lnTo>
                  <a:lnTo>
                    <a:pt x="1465580" y="1028700"/>
                  </a:lnTo>
                  <a:lnTo>
                    <a:pt x="1450340" y="1054100"/>
                  </a:lnTo>
                  <a:lnTo>
                    <a:pt x="1432560" y="1092200"/>
                  </a:lnTo>
                  <a:lnTo>
                    <a:pt x="1435100" y="1092200"/>
                  </a:lnTo>
                  <a:lnTo>
                    <a:pt x="1414780" y="1117600"/>
                  </a:lnTo>
                  <a:lnTo>
                    <a:pt x="1397000" y="1143000"/>
                  </a:lnTo>
                  <a:lnTo>
                    <a:pt x="1374140" y="1181100"/>
                  </a:lnTo>
                  <a:lnTo>
                    <a:pt x="1353820" y="1206500"/>
                  </a:lnTo>
                  <a:lnTo>
                    <a:pt x="1303020" y="1257300"/>
                  </a:lnTo>
                  <a:lnTo>
                    <a:pt x="1305560" y="1257300"/>
                  </a:lnTo>
                  <a:lnTo>
                    <a:pt x="1249680" y="1308100"/>
                  </a:lnTo>
                  <a:lnTo>
                    <a:pt x="1252220" y="1308100"/>
                  </a:lnTo>
                  <a:lnTo>
                    <a:pt x="1221740" y="1320800"/>
                  </a:lnTo>
                  <a:lnTo>
                    <a:pt x="1193800" y="1346200"/>
                  </a:lnTo>
                  <a:lnTo>
                    <a:pt x="1163320" y="1358900"/>
                  </a:lnTo>
                  <a:lnTo>
                    <a:pt x="1130300" y="1384300"/>
                  </a:lnTo>
                  <a:lnTo>
                    <a:pt x="1132840" y="1384300"/>
                  </a:lnTo>
                  <a:lnTo>
                    <a:pt x="1099820" y="1397000"/>
                  </a:lnTo>
                  <a:lnTo>
                    <a:pt x="1064260" y="1409700"/>
                  </a:lnTo>
                  <a:lnTo>
                    <a:pt x="1066800" y="1409700"/>
                  </a:lnTo>
                  <a:lnTo>
                    <a:pt x="960120" y="1447800"/>
                  </a:lnTo>
                  <a:lnTo>
                    <a:pt x="924560" y="1447800"/>
                  </a:lnTo>
                  <a:lnTo>
                    <a:pt x="886460" y="1460500"/>
                  </a:lnTo>
                  <a:lnTo>
                    <a:pt x="812800" y="1460500"/>
                  </a:lnTo>
                  <a:lnTo>
                    <a:pt x="773430" y="1472806"/>
                  </a:lnTo>
                  <a:lnTo>
                    <a:pt x="734060" y="1460500"/>
                  </a:lnTo>
                  <a:lnTo>
                    <a:pt x="660400" y="1460500"/>
                  </a:lnTo>
                  <a:lnTo>
                    <a:pt x="584200" y="1447800"/>
                  </a:lnTo>
                  <a:lnTo>
                    <a:pt x="586740" y="1447800"/>
                  </a:lnTo>
                  <a:lnTo>
                    <a:pt x="548640" y="1435100"/>
                  </a:lnTo>
                  <a:lnTo>
                    <a:pt x="551180" y="1435100"/>
                  </a:lnTo>
                  <a:lnTo>
                    <a:pt x="480060" y="1409700"/>
                  </a:lnTo>
                  <a:lnTo>
                    <a:pt x="414020" y="1384300"/>
                  </a:lnTo>
                  <a:lnTo>
                    <a:pt x="416560" y="1384300"/>
                  </a:lnTo>
                  <a:lnTo>
                    <a:pt x="383540" y="1358900"/>
                  </a:lnTo>
                  <a:lnTo>
                    <a:pt x="322580" y="1320800"/>
                  </a:lnTo>
                  <a:lnTo>
                    <a:pt x="325120" y="1320800"/>
                  </a:lnTo>
                  <a:lnTo>
                    <a:pt x="294640" y="1308100"/>
                  </a:lnTo>
                  <a:lnTo>
                    <a:pt x="269240" y="1282700"/>
                  </a:lnTo>
                  <a:lnTo>
                    <a:pt x="241300" y="1257300"/>
                  </a:lnTo>
                  <a:lnTo>
                    <a:pt x="218440" y="1231900"/>
                  </a:lnTo>
                  <a:lnTo>
                    <a:pt x="193040" y="1206500"/>
                  </a:lnTo>
                  <a:lnTo>
                    <a:pt x="170180" y="1181100"/>
                  </a:lnTo>
                  <a:lnTo>
                    <a:pt x="172720" y="1181100"/>
                  </a:lnTo>
                  <a:lnTo>
                    <a:pt x="149860" y="1143000"/>
                  </a:lnTo>
                  <a:lnTo>
                    <a:pt x="132080" y="1117600"/>
                  </a:lnTo>
                  <a:lnTo>
                    <a:pt x="111760" y="1092200"/>
                  </a:lnTo>
                  <a:lnTo>
                    <a:pt x="114300" y="1092200"/>
                  </a:lnTo>
                  <a:lnTo>
                    <a:pt x="96520" y="1054100"/>
                  </a:lnTo>
                  <a:lnTo>
                    <a:pt x="81280" y="1028700"/>
                  </a:lnTo>
                  <a:lnTo>
                    <a:pt x="55880" y="965200"/>
                  </a:lnTo>
                  <a:lnTo>
                    <a:pt x="45720" y="927100"/>
                  </a:lnTo>
                  <a:lnTo>
                    <a:pt x="30480" y="850900"/>
                  </a:lnTo>
                  <a:lnTo>
                    <a:pt x="27089" y="825500"/>
                  </a:lnTo>
                  <a:lnTo>
                    <a:pt x="25400" y="812800"/>
                  </a:lnTo>
                  <a:lnTo>
                    <a:pt x="25400" y="825500"/>
                  </a:lnTo>
                  <a:lnTo>
                    <a:pt x="22860" y="787400"/>
                  </a:lnTo>
                  <a:lnTo>
                    <a:pt x="22860" y="711200"/>
                  </a:lnTo>
                  <a:lnTo>
                    <a:pt x="25400" y="673100"/>
                  </a:lnTo>
                  <a:lnTo>
                    <a:pt x="30480" y="635000"/>
                  </a:lnTo>
                  <a:lnTo>
                    <a:pt x="45720" y="558800"/>
                  </a:lnTo>
                  <a:lnTo>
                    <a:pt x="45720" y="571500"/>
                  </a:lnTo>
                  <a:lnTo>
                    <a:pt x="49098" y="558800"/>
                  </a:lnTo>
                  <a:lnTo>
                    <a:pt x="55880" y="533400"/>
                  </a:lnTo>
                  <a:lnTo>
                    <a:pt x="96520" y="431800"/>
                  </a:lnTo>
                  <a:lnTo>
                    <a:pt x="114300" y="406400"/>
                  </a:lnTo>
                  <a:lnTo>
                    <a:pt x="111760" y="406400"/>
                  </a:lnTo>
                  <a:lnTo>
                    <a:pt x="132080" y="368300"/>
                  </a:lnTo>
                  <a:lnTo>
                    <a:pt x="149860" y="342900"/>
                  </a:lnTo>
                  <a:lnTo>
                    <a:pt x="172720" y="317500"/>
                  </a:lnTo>
                  <a:lnTo>
                    <a:pt x="170180" y="317500"/>
                  </a:lnTo>
                  <a:lnTo>
                    <a:pt x="193040" y="292100"/>
                  </a:lnTo>
                  <a:lnTo>
                    <a:pt x="218440" y="254000"/>
                  </a:lnTo>
                  <a:lnTo>
                    <a:pt x="241300" y="228600"/>
                  </a:lnTo>
                  <a:lnTo>
                    <a:pt x="241300" y="241300"/>
                  </a:lnTo>
                  <a:lnTo>
                    <a:pt x="255257" y="228600"/>
                  </a:lnTo>
                  <a:lnTo>
                    <a:pt x="269240" y="215900"/>
                  </a:lnTo>
                  <a:lnTo>
                    <a:pt x="294640" y="190500"/>
                  </a:lnTo>
                  <a:lnTo>
                    <a:pt x="325120" y="165100"/>
                  </a:lnTo>
                  <a:lnTo>
                    <a:pt x="322580" y="165100"/>
                  </a:lnTo>
                  <a:lnTo>
                    <a:pt x="383540" y="127000"/>
                  </a:lnTo>
                  <a:lnTo>
                    <a:pt x="416560" y="114300"/>
                  </a:lnTo>
                  <a:lnTo>
                    <a:pt x="414020" y="114300"/>
                  </a:lnTo>
                  <a:lnTo>
                    <a:pt x="447040" y="88900"/>
                  </a:lnTo>
                  <a:lnTo>
                    <a:pt x="480060" y="76200"/>
                  </a:lnTo>
                  <a:lnTo>
                    <a:pt x="551180" y="50800"/>
                  </a:lnTo>
                  <a:lnTo>
                    <a:pt x="584200" y="50800"/>
                  </a:lnTo>
                  <a:lnTo>
                    <a:pt x="660400" y="25400"/>
                  </a:lnTo>
                  <a:lnTo>
                    <a:pt x="886460" y="25400"/>
                  </a:lnTo>
                  <a:lnTo>
                    <a:pt x="962660" y="50800"/>
                  </a:lnTo>
                  <a:lnTo>
                    <a:pt x="960120" y="50800"/>
                  </a:lnTo>
                  <a:lnTo>
                    <a:pt x="1031240" y="63500"/>
                  </a:lnTo>
                  <a:lnTo>
                    <a:pt x="1066800" y="76200"/>
                  </a:lnTo>
                  <a:lnTo>
                    <a:pt x="1064260" y="76200"/>
                  </a:lnTo>
                  <a:lnTo>
                    <a:pt x="1099820" y="88900"/>
                  </a:lnTo>
                  <a:lnTo>
                    <a:pt x="1132840" y="114300"/>
                  </a:lnTo>
                  <a:lnTo>
                    <a:pt x="1130300" y="114300"/>
                  </a:lnTo>
                  <a:lnTo>
                    <a:pt x="1163320" y="127000"/>
                  </a:lnTo>
                  <a:lnTo>
                    <a:pt x="1193800" y="152400"/>
                  </a:lnTo>
                  <a:lnTo>
                    <a:pt x="1221740" y="165100"/>
                  </a:lnTo>
                  <a:lnTo>
                    <a:pt x="1252220" y="190500"/>
                  </a:lnTo>
                  <a:lnTo>
                    <a:pt x="1249680" y="190500"/>
                  </a:lnTo>
                  <a:lnTo>
                    <a:pt x="1305560" y="241300"/>
                  </a:lnTo>
                  <a:lnTo>
                    <a:pt x="1303020" y="228600"/>
                  </a:lnTo>
                  <a:lnTo>
                    <a:pt x="1328420" y="254000"/>
                  </a:lnTo>
                  <a:lnTo>
                    <a:pt x="1353820" y="292100"/>
                  </a:lnTo>
                  <a:lnTo>
                    <a:pt x="1374140" y="317500"/>
                  </a:lnTo>
                  <a:lnTo>
                    <a:pt x="1397000" y="342900"/>
                  </a:lnTo>
                  <a:lnTo>
                    <a:pt x="1414780" y="368300"/>
                  </a:lnTo>
                  <a:lnTo>
                    <a:pt x="1435100" y="406400"/>
                  </a:lnTo>
                  <a:lnTo>
                    <a:pt x="1432560" y="406400"/>
                  </a:lnTo>
                  <a:lnTo>
                    <a:pt x="1450340" y="431800"/>
                  </a:lnTo>
                  <a:lnTo>
                    <a:pt x="1490980" y="533400"/>
                  </a:lnTo>
                  <a:lnTo>
                    <a:pt x="1501140" y="571500"/>
                  </a:lnTo>
                  <a:lnTo>
                    <a:pt x="1501140" y="558800"/>
                  </a:lnTo>
                  <a:lnTo>
                    <a:pt x="1516380" y="635000"/>
                  </a:lnTo>
                  <a:lnTo>
                    <a:pt x="1521460" y="673100"/>
                  </a:lnTo>
                  <a:lnTo>
                    <a:pt x="1524000" y="711200"/>
                  </a:lnTo>
                  <a:lnTo>
                    <a:pt x="1524000" y="568325"/>
                  </a:lnTo>
                  <a:lnTo>
                    <a:pt x="1521460" y="558800"/>
                  </a:lnTo>
                  <a:lnTo>
                    <a:pt x="1511300" y="520700"/>
                  </a:lnTo>
                  <a:lnTo>
                    <a:pt x="1498600" y="495300"/>
                  </a:lnTo>
                  <a:lnTo>
                    <a:pt x="1485900" y="457200"/>
                  </a:lnTo>
                  <a:lnTo>
                    <a:pt x="1470660" y="419100"/>
                  </a:lnTo>
                  <a:lnTo>
                    <a:pt x="1452880" y="393700"/>
                  </a:lnTo>
                  <a:lnTo>
                    <a:pt x="1435100" y="355600"/>
                  </a:lnTo>
                  <a:lnTo>
                    <a:pt x="1414780" y="330200"/>
                  </a:lnTo>
                  <a:lnTo>
                    <a:pt x="1391920" y="304800"/>
                  </a:lnTo>
                  <a:lnTo>
                    <a:pt x="1346200" y="241300"/>
                  </a:lnTo>
                  <a:lnTo>
                    <a:pt x="1333500" y="228600"/>
                  </a:lnTo>
                  <a:lnTo>
                    <a:pt x="1320800" y="215900"/>
                  </a:lnTo>
                  <a:lnTo>
                    <a:pt x="1264920" y="165100"/>
                  </a:lnTo>
                  <a:lnTo>
                    <a:pt x="1236980" y="152400"/>
                  </a:lnTo>
                  <a:lnTo>
                    <a:pt x="1206500" y="127000"/>
                  </a:lnTo>
                  <a:lnTo>
                    <a:pt x="1107440" y="76200"/>
                  </a:lnTo>
                  <a:lnTo>
                    <a:pt x="1074420" y="63500"/>
                  </a:lnTo>
                  <a:lnTo>
                    <a:pt x="967740" y="25400"/>
                  </a:lnTo>
                  <a:lnTo>
                    <a:pt x="929640" y="12700"/>
                  </a:lnTo>
                  <a:lnTo>
                    <a:pt x="853440" y="0"/>
                  </a:lnTo>
                  <a:lnTo>
                    <a:pt x="693420" y="0"/>
                  </a:lnTo>
                  <a:lnTo>
                    <a:pt x="617220" y="12700"/>
                  </a:lnTo>
                  <a:lnTo>
                    <a:pt x="579120" y="25400"/>
                  </a:lnTo>
                  <a:lnTo>
                    <a:pt x="472440" y="63500"/>
                  </a:lnTo>
                  <a:lnTo>
                    <a:pt x="439420" y="76200"/>
                  </a:lnTo>
                  <a:lnTo>
                    <a:pt x="403860" y="88900"/>
                  </a:lnTo>
                  <a:lnTo>
                    <a:pt x="373380" y="114300"/>
                  </a:lnTo>
                  <a:lnTo>
                    <a:pt x="340360" y="127000"/>
                  </a:lnTo>
                  <a:lnTo>
                    <a:pt x="309880" y="152400"/>
                  </a:lnTo>
                  <a:lnTo>
                    <a:pt x="281940" y="165100"/>
                  </a:lnTo>
                  <a:lnTo>
                    <a:pt x="226060" y="215900"/>
                  </a:lnTo>
                  <a:lnTo>
                    <a:pt x="200660" y="241300"/>
                  </a:lnTo>
                  <a:lnTo>
                    <a:pt x="154940" y="304800"/>
                  </a:lnTo>
                  <a:lnTo>
                    <a:pt x="132080" y="330200"/>
                  </a:lnTo>
                  <a:lnTo>
                    <a:pt x="111760" y="355600"/>
                  </a:lnTo>
                  <a:lnTo>
                    <a:pt x="93980" y="393700"/>
                  </a:lnTo>
                  <a:lnTo>
                    <a:pt x="76200" y="419100"/>
                  </a:lnTo>
                  <a:lnTo>
                    <a:pt x="60960" y="457200"/>
                  </a:lnTo>
                  <a:lnTo>
                    <a:pt x="48260" y="495300"/>
                  </a:lnTo>
                  <a:lnTo>
                    <a:pt x="35560" y="520700"/>
                  </a:lnTo>
                  <a:lnTo>
                    <a:pt x="15240" y="596900"/>
                  </a:lnTo>
                  <a:lnTo>
                    <a:pt x="0" y="711200"/>
                  </a:lnTo>
                  <a:lnTo>
                    <a:pt x="0" y="787400"/>
                  </a:lnTo>
                  <a:lnTo>
                    <a:pt x="15240" y="901700"/>
                  </a:lnTo>
                  <a:lnTo>
                    <a:pt x="35560" y="965200"/>
                  </a:lnTo>
                  <a:lnTo>
                    <a:pt x="60960" y="1041400"/>
                  </a:lnTo>
                  <a:lnTo>
                    <a:pt x="76200" y="1066800"/>
                  </a:lnTo>
                  <a:lnTo>
                    <a:pt x="93980" y="1104900"/>
                  </a:lnTo>
                  <a:lnTo>
                    <a:pt x="111760" y="1130300"/>
                  </a:lnTo>
                  <a:lnTo>
                    <a:pt x="132080" y="1155700"/>
                  </a:lnTo>
                  <a:lnTo>
                    <a:pt x="154940" y="1193800"/>
                  </a:lnTo>
                  <a:lnTo>
                    <a:pt x="200660" y="1244600"/>
                  </a:lnTo>
                  <a:lnTo>
                    <a:pt x="226060" y="1270000"/>
                  </a:lnTo>
                  <a:lnTo>
                    <a:pt x="309880" y="1346200"/>
                  </a:lnTo>
                  <a:lnTo>
                    <a:pt x="340360" y="1358900"/>
                  </a:lnTo>
                  <a:lnTo>
                    <a:pt x="373380" y="1384300"/>
                  </a:lnTo>
                  <a:lnTo>
                    <a:pt x="403860" y="1397000"/>
                  </a:lnTo>
                  <a:lnTo>
                    <a:pt x="439420" y="1422400"/>
                  </a:lnTo>
                  <a:lnTo>
                    <a:pt x="472440" y="1435100"/>
                  </a:lnTo>
                  <a:lnTo>
                    <a:pt x="508000" y="1447800"/>
                  </a:lnTo>
                  <a:lnTo>
                    <a:pt x="579120" y="1460500"/>
                  </a:lnTo>
                  <a:lnTo>
                    <a:pt x="617220" y="1473200"/>
                  </a:lnTo>
                  <a:lnTo>
                    <a:pt x="693420" y="1485900"/>
                  </a:lnTo>
                  <a:lnTo>
                    <a:pt x="853440" y="1485900"/>
                  </a:lnTo>
                  <a:lnTo>
                    <a:pt x="929640" y="1473200"/>
                  </a:lnTo>
                  <a:lnTo>
                    <a:pt x="965200" y="1460500"/>
                  </a:lnTo>
                  <a:lnTo>
                    <a:pt x="1003300" y="1460500"/>
                  </a:lnTo>
                  <a:lnTo>
                    <a:pt x="1074420" y="1435100"/>
                  </a:lnTo>
                  <a:lnTo>
                    <a:pt x="1107440" y="1422400"/>
                  </a:lnTo>
                  <a:lnTo>
                    <a:pt x="1206500" y="1358900"/>
                  </a:lnTo>
                  <a:lnTo>
                    <a:pt x="1236980" y="1346200"/>
                  </a:lnTo>
                  <a:lnTo>
                    <a:pt x="1320800" y="1270000"/>
                  </a:lnTo>
                  <a:lnTo>
                    <a:pt x="1346200" y="1244600"/>
                  </a:lnTo>
                  <a:lnTo>
                    <a:pt x="1391920" y="1193800"/>
                  </a:lnTo>
                  <a:lnTo>
                    <a:pt x="1414780" y="1155700"/>
                  </a:lnTo>
                  <a:lnTo>
                    <a:pt x="1435100" y="1130300"/>
                  </a:lnTo>
                  <a:lnTo>
                    <a:pt x="1452880" y="1104900"/>
                  </a:lnTo>
                  <a:lnTo>
                    <a:pt x="1470660" y="1066800"/>
                  </a:lnTo>
                  <a:lnTo>
                    <a:pt x="1485900" y="1041400"/>
                  </a:lnTo>
                  <a:lnTo>
                    <a:pt x="1511300" y="965200"/>
                  </a:lnTo>
                  <a:lnTo>
                    <a:pt x="1531620" y="901700"/>
                  </a:lnTo>
                  <a:lnTo>
                    <a:pt x="1541780" y="825500"/>
                  </a:lnTo>
                  <a:lnTo>
                    <a:pt x="1546860" y="749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6B1F6DA-0D44-8A0A-A624-AADE601FFF34}"/>
                </a:ext>
              </a:extLst>
            </p:cNvPr>
            <p:cNvSpPr/>
            <p:nvPr/>
          </p:nvSpPr>
          <p:spPr>
            <a:xfrm>
              <a:off x="5549900" y="3807460"/>
              <a:ext cx="284480" cy="276860"/>
            </a:xfrm>
            <a:custGeom>
              <a:avLst/>
              <a:gdLst/>
              <a:ahLst/>
              <a:cxnLst/>
              <a:rect l="l" t="t" r="r" b="b"/>
              <a:pathLst>
                <a:path w="284479" h="276860">
                  <a:moveTo>
                    <a:pt x="142239" y="0"/>
                  </a:moveTo>
                  <a:lnTo>
                    <a:pt x="0" y="139700"/>
                  </a:lnTo>
                  <a:lnTo>
                    <a:pt x="142239" y="276860"/>
                  </a:lnTo>
                  <a:lnTo>
                    <a:pt x="284479" y="139700"/>
                  </a:lnTo>
                  <a:lnTo>
                    <a:pt x="1422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CDF5950-EEF9-26C0-CE05-836C503A581C}"/>
                </a:ext>
              </a:extLst>
            </p:cNvPr>
            <p:cNvSpPr/>
            <p:nvPr/>
          </p:nvSpPr>
          <p:spPr>
            <a:xfrm>
              <a:off x="5648960" y="4274819"/>
              <a:ext cx="284480" cy="276860"/>
            </a:xfrm>
            <a:custGeom>
              <a:avLst/>
              <a:gdLst/>
              <a:ahLst/>
              <a:cxnLst/>
              <a:rect l="l" t="t" r="r" b="b"/>
              <a:pathLst>
                <a:path w="284479" h="276860">
                  <a:moveTo>
                    <a:pt x="284480" y="68580"/>
                  </a:moveTo>
                  <a:lnTo>
                    <a:pt x="215900" y="68580"/>
                  </a:lnTo>
                  <a:lnTo>
                    <a:pt x="215900" y="0"/>
                  </a:lnTo>
                  <a:lnTo>
                    <a:pt x="68580" y="0"/>
                  </a:lnTo>
                  <a:lnTo>
                    <a:pt x="68580" y="68580"/>
                  </a:lnTo>
                  <a:lnTo>
                    <a:pt x="0" y="68580"/>
                  </a:lnTo>
                  <a:lnTo>
                    <a:pt x="0" y="208280"/>
                  </a:lnTo>
                  <a:lnTo>
                    <a:pt x="68580" y="208280"/>
                  </a:lnTo>
                  <a:lnTo>
                    <a:pt x="68580" y="276860"/>
                  </a:lnTo>
                  <a:lnTo>
                    <a:pt x="215900" y="276860"/>
                  </a:lnTo>
                  <a:lnTo>
                    <a:pt x="215900" y="208280"/>
                  </a:lnTo>
                  <a:lnTo>
                    <a:pt x="284480" y="208280"/>
                  </a:lnTo>
                  <a:lnTo>
                    <a:pt x="284480" y="6858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ACB1EB2-2876-1E83-FC3F-B6B052C0D965}"/>
                </a:ext>
              </a:extLst>
            </p:cNvPr>
            <p:cNvSpPr/>
            <p:nvPr/>
          </p:nvSpPr>
          <p:spPr>
            <a:xfrm>
              <a:off x="5295900" y="3990340"/>
              <a:ext cx="215900" cy="274320"/>
            </a:xfrm>
            <a:custGeom>
              <a:avLst/>
              <a:gdLst/>
              <a:ahLst/>
              <a:cxnLst/>
              <a:rect l="l" t="t" r="r" b="b"/>
              <a:pathLst>
                <a:path w="215900" h="274320">
                  <a:moveTo>
                    <a:pt x="109220" y="0"/>
                  </a:moveTo>
                  <a:lnTo>
                    <a:pt x="0" y="274320"/>
                  </a:lnTo>
                  <a:lnTo>
                    <a:pt x="215900" y="274320"/>
                  </a:lnTo>
                  <a:lnTo>
                    <a:pt x="10922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CF03663-4AE8-7563-0978-925DE0CD3BEA}"/>
                </a:ext>
              </a:extLst>
            </p:cNvPr>
            <p:cNvSpPr/>
            <p:nvPr/>
          </p:nvSpPr>
          <p:spPr>
            <a:xfrm>
              <a:off x="3810000" y="3464559"/>
              <a:ext cx="2504440" cy="1325880"/>
            </a:xfrm>
            <a:custGeom>
              <a:avLst/>
              <a:gdLst/>
              <a:ahLst/>
              <a:cxnLst/>
              <a:rect l="l" t="t" r="r" b="b"/>
              <a:pathLst>
                <a:path w="2504440" h="1325879">
                  <a:moveTo>
                    <a:pt x="1437640" y="1028700"/>
                  </a:moveTo>
                  <a:lnTo>
                    <a:pt x="1432560" y="1023620"/>
                  </a:lnTo>
                  <a:lnTo>
                    <a:pt x="1259840" y="1186180"/>
                  </a:lnTo>
                  <a:lnTo>
                    <a:pt x="1267460" y="1193800"/>
                  </a:lnTo>
                  <a:lnTo>
                    <a:pt x="1437640" y="1028700"/>
                  </a:lnTo>
                  <a:close/>
                </a:path>
                <a:path w="2504440" h="1325879">
                  <a:moveTo>
                    <a:pt x="1447800" y="609600"/>
                  </a:moveTo>
                  <a:lnTo>
                    <a:pt x="1427480" y="599440"/>
                  </a:lnTo>
                  <a:lnTo>
                    <a:pt x="1371600" y="571500"/>
                  </a:lnTo>
                  <a:lnTo>
                    <a:pt x="1371600" y="599440"/>
                  </a:lnTo>
                  <a:lnTo>
                    <a:pt x="0" y="599440"/>
                  </a:lnTo>
                  <a:lnTo>
                    <a:pt x="0" y="617220"/>
                  </a:lnTo>
                  <a:lnTo>
                    <a:pt x="1371600" y="617220"/>
                  </a:lnTo>
                  <a:lnTo>
                    <a:pt x="1371600" y="647700"/>
                  </a:lnTo>
                  <a:lnTo>
                    <a:pt x="1432560" y="617220"/>
                  </a:lnTo>
                  <a:lnTo>
                    <a:pt x="1447800" y="609600"/>
                  </a:lnTo>
                  <a:close/>
                </a:path>
                <a:path w="2504440" h="1325879">
                  <a:moveTo>
                    <a:pt x="1684020" y="1287780"/>
                  </a:moveTo>
                  <a:lnTo>
                    <a:pt x="1663700" y="1277620"/>
                  </a:lnTo>
                  <a:lnTo>
                    <a:pt x="1607820" y="1249680"/>
                  </a:lnTo>
                  <a:lnTo>
                    <a:pt x="1607820" y="1277620"/>
                  </a:lnTo>
                  <a:lnTo>
                    <a:pt x="533400" y="1277620"/>
                  </a:lnTo>
                  <a:lnTo>
                    <a:pt x="533400" y="1295400"/>
                  </a:lnTo>
                  <a:lnTo>
                    <a:pt x="1607820" y="1295400"/>
                  </a:lnTo>
                  <a:lnTo>
                    <a:pt x="1607820" y="1325880"/>
                  </a:lnTo>
                  <a:lnTo>
                    <a:pt x="1668780" y="1295400"/>
                  </a:lnTo>
                  <a:lnTo>
                    <a:pt x="1684020" y="1287780"/>
                  </a:lnTo>
                  <a:close/>
                </a:path>
                <a:path w="2504440" h="1325879">
                  <a:moveTo>
                    <a:pt x="1887220" y="0"/>
                  </a:moveTo>
                  <a:lnTo>
                    <a:pt x="1877060" y="0"/>
                  </a:lnTo>
                  <a:lnTo>
                    <a:pt x="1877060" y="233680"/>
                  </a:lnTo>
                  <a:lnTo>
                    <a:pt x="1887220" y="233680"/>
                  </a:lnTo>
                  <a:lnTo>
                    <a:pt x="1887220" y="0"/>
                  </a:lnTo>
                  <a:close/>
                </a:path>
                <a:path w="2504440" h="1325879">
                  <a:moveTo>
                    <a:pt x="2504440" y="1107440"/>
                  </a:moveTo>
                  <a:lnTo>
                    <a:pt x="2316480" y="952500"/>
                  </a:lnTo>
                  <a:lnTo>
                    <a:pt x="2308860" y="960120"/>
                  </a:lnTo>
                  <a:lnTo>
                    <a:pt x="2499360" y="1115060"/>
                  </a:lnTo>
                  <a:lnTo>
                    <a:pt x="2504440" y="1107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00EDB434-FAE6-7FDC-F3E4-52FDE5025669}"/>
              </a:ext>
            </a:extLst>
          </p:cNvPr>
          <p:cNvSpPr txBox="1"/>
          <p:nvPr/>
        </p:nvSpPr>
        <p:spPr>
          <a:xfrm>
            <a:off x="3009528" y="4999339"/>
            <a:ext cx="715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Atributos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11238CB-39B9-165E-7351-F95C1B425BDF}"/>
              </a:ext>
            </a:extLst>
          </p:cNvPr>
          <p:cNvSpPr txBox="1"/>
          <p:nvPr/>
        </p:nvSpPr>
        <p:spPr>
          <a:xfrm>
            <a:off x="3012067" y="5720700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ompo</a:t>
            </a:r>
            <a:r>
              <a:rPr sz="1200" spc="5" dirty="0">
                <a:latin typeface="Verdana"/>
                <a:cs typeface="Verdana"/>
              </a:rPr>
              <a:t>rt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mi</a:t>
            </a:r>
            <a:r>
              <a:rPr sz="1200" spc="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to  </a:t>
            </a:r>
            <a:r>
              <a:rPr sz="1200" spc="-10" dirty="0">
                <a:latin typeface="Verdana"/>
                <a:cs typeface="Verdana"/>
              </a:rPr>
              <a:t>(métodos)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1640D96-3708-695D-8F57-ED44433B8B90}"/>
              </a:ext>
            </a:extLst>
          </p:cNvPr>
          <p:cNvSpPr txBox="1"/>
          <p:nvPr/>
        </p:nvSpPr>
        <p:spPr>
          <a:xfrm>
            <a:off x="5681607" y="5753720"/>
            <a:ext cx="2317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latin typeface="Verdana"/>
                <a:cs typeface="Verdana"/>
              </a:rPr>
              <a:t>m1</a:t>
            </a:r>
            <a:endParaRPr sz="1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17887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18C2-9C9A-E304-108C-B2A04119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35BE1AA-A45E-95F2-92EC-A755FE990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6">
            <a:extLst>
              <a:ext uri="{FF2B5EF4-FFF2-40B4-BE49-F238E27FC236}">
                <a16:creationId xmlns:a16="http://schemas.microsoft.com/office/drawing/2014/main" id="{7DF262E3-F99D-CC93-936B-60E7EE16C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37356"/>
            <a:ext cx="7834064" cy="16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21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42F3-4170-F69F-6A8C-B9B93E39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D888CAE-F4B0-2579-B952-8897DD529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7">
            <a:extLst>
              <a:ext uri="{FF2B5EF4-FFF2-40B4-BE49-F238E27FC236}">
                <a16:creationId xmlns:a16="http://schemas.microsoft.com/office/drawing/2014/main" id="{A9AEC7B8-DE3D-FD72-FFF0-B259DE7EC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074" y="3645024"/>
            <a:ext cx="7642596" cy="630064"/>
          </a:xfrm>
          <a:prstGeom prst="rect">
            <a:avLst/>
          </a:prstGeom>
        </p:spPr>
      </p:pic>
      <p:pic>
        <p:nvPicPr>
          <p:cNvPr id="4" name="Imagen 11">
            <a:extLst>
              <a:ext uri="{FF2B5EF4-FFF2-40B4-BE49-F238E27FC236}">
                <a16:creationId xmlns:a16="http://schemas.microsoft.com/office/drawing/2014/main" id="{FAF3D03A-9B19-D94A-E7C5-CB8542C63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99" y="2473974"/>
            <a:ext cx="8084459" cy="499142"/>
          </a:xfrm>
          <a:prstGeom prst="rect">
            <a:avLst/>
          </a:prstGeom>
        </p:spPr>
      </p:pic>
      <p:pic>
        <p:nvPicPr>
          <p:cNvPr id="5" name="Imagen 15">
            <a:extLst>
              <a:ext uri="{FF2B5EF4-FFF2-40B4-BE49-F238E27FC236}">
                <a16:creationId xmlns:a16="http://schemas.microsoft.com/office/drawing/2014/main" id="{73831200-99CE-1DBB-C1B3-A9DA07894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72" y="4968474"/>
            <a:ext cx="8092642" cy="58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5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ACE4-12BA-64A6-8659-B3EBB921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032532-9392-6A69-9C5D-872C69360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A63CDF5F-93B9-EFF0-3143-0B10FDD8C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52936"/>
            <a:ext cx="7588771" cy="228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91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CA45-8FB3-7729-9986-E428407D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455641F-3290-E99C-9124-F4997C304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4">
            <a:extLst>
              <a:ext uri="{FF2B5EF4-FFF2-40B4-BE49-F238E27FC236}">
                <a16:creationId xmlns:a16="http://schemas.microsoft.com/office/drawing/2014/main" id="{449873DD-4251-F892-39DC-B50476F4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24" y="3140968"/>
            <a:ext cx="7588200" cy="124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61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0F33-2A6B-B200-71CF-CB71FE13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60E8ACE-D123-659B-2E74-D1462CEE4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19C95EB4-6A24-25DF-6993-EC2FE2606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0888"/>
            <a:ext cx="7871470" cy="29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92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8E81-C189-B2E2-A5B6-77D90BCE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C60427F-3DBE-3748-A302-6C57D9BA2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4">
            <a:extLst>
              <a:ext uri="{FF2B5EF4-FFF2-40B4-BE49-F238E27FC236}">
                <a16:creationId xmlns:a16="http://schemas.microsoft.com/office/drawing/2014/main" id="{600664A0-49C5-C6B1-4FD3-29B161A2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34" y="2186173"/>
            <a:ext cx="7700126" cy="303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5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2B27-95EE-4B0B-23C0-FAF7EADD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51A21CE-97C4-B8F7-CB35-F070B7054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C9D52646-9587-B362-F4ED-21C3FB37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0289"/>
            <a:ext cx="7888457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76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7638-45C1-6761-04AC-0BF53114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ADD9894-9676-E3F2-C542-F6278F8B6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4">
            <a:extLst>
              <a:ext uri="{FF2B5EF4-FFF2-40B4-BE49-F238E27FC236}">
                <a16:creationId xmlns:a16="http://schemas.microsoft.com/office/drawing/2014/main" id="{D6C93C58-76A0-5673-06BF-A0DDDE3AA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74" y="2603734"/>
            <a:ext cx="7554863" cy="30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15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CC24-8916-4E0E-C4A7-BA91F5AB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2D5EBF8-8C29-DAAA-94C6-7B389891B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D336B47C-33FE-AEDF-5893-262D03B0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276872"/>
            <a:ext cx="7837562" cy="32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87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A168B-F0E8-C9CB-A65F-C35DEA0D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5008A65-C40B-AAAC-2A78-B96FF7024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4">
            <a:extLst>
              <a:ext uri="{FF2B5EF4-FFF2-40B4-BE49-F238E27FC236}">
                <a16:creationId xmlns:a16="http://schemas.microsoft.com/office/drawing/2014/main" id="{F0E85E95-1629-0F60-9B0B-92B4BBBA0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13" y="2204864"/>
            <a:ext cx="7743548" cy="36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37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5920-6CF0-4203-7F95-10F9BD9F3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A26910-3136-2CB5-3458-A75EAC0C6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A4C5327C-EDEF-9E11-3163-70DE0C276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636912"/>
            <a:ext cx="7559500" cy="310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02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C945-5F96-7B9F-7C51-23B32456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037BFB7-C58C-2781-D4FF-8DE274E3A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9">
            <a:extLst>
              <a:ext uri="{FF2B5EF4-FFF2-40B4-BE49-F238E27FC236}">
                <a16:creationId xmlns:a16="http://schemas.microsoft.com/office/drawing/2014/main" id="{884F5B9B-59A4-AA53-7FEB-FD33FBAB7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581246"/>
            <a:ext cx="7140791" cy="262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06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4AEB-B887-435B-8A9B-F5C2CE24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5856A7C-7521-7028-6C22-8FE664296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BD2A9AF9-5C34-76DF-2978-9F9EFF4B2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82" y="2110203"/>
            <a:ext cx="8081726" cy="810343"/>
          </a:xfrm>
          <a:prstGeom prst="rect">
            <a:avLst/>
          </a:prstGeom>
        </p:spPr>
      </p:pic>
      <p:pic>
        <p:nvPicPr>
          <p:cNvPr id="4" name="Imagen 7">
            <a:extLst>
              <a:ext uri="{FF2B5EF4-FFF2-40B4-BE49-F238E27FC236}">
                <a16:creationId xmlns:a16="http://schemas.microsoft.com/office/drawing/2014/main" id="{15753810-438D-BF3A-A910-19B9AC64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39" y="2988560"/>
            <a:ext cx="7757107" cy="333171"/>
          </a:xfrm>
          <a:prstGeom prst="rect">
            <a:avLst/>
          </a:prstGeom>
        </p:spPr>
      </p:pic>
      <p:pic>
        <p:nvPicPr>
          <p:cNvPr id="5" name="Imagen 10">
            <a:extLst>
              <a:ext uri="{FF2B5EF4-FFF2-40B4-BE49-F238E27FC236}">
                <a16:creationId xmlns:a16="http://schemas.microsoft.com/office/drawing/2014/main" id="{80AFEEF8-2B90-9008-1057-B2397EFB5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37" y="3501008"/>
            <a:ext cx="7757107" cy="864169"/>
          </a:xfrm>
          <a:prstGeom prst="rect">
            <a:avLst/>
          </a:prstGeom>
        </p:spPr>
      </p:pic>
      <p:pic>
        <p:nvPicPr>
          <p:cNvPr id="6" name="Imagen 12">
            <a:extLst>
              <a:ext uri="{FF2B5EF4-FFF2-40B4-BE49-F238E27FC236}">
                <a16:creationId xmlns:a16="http://schemas.microsoft.com/office/drawing/2014/main" id="{245C1CF7-E942-D100-3F71-361FBAC48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839" y="4767959"/>
            <a:ext cx="5666060" cy="15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79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5288-8B06-8894-3C0F-12332495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C63811B-5311-C55A-986E-79D6C9F8E4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6">
            <a:extLst>
              <a:ext uri="{FF2B5EF4-FFF2-40B4-BE49-F238E27FC236}">
                <a16:creationId xmlns:a16="http://schemas.microsoft.com/office/drawing/2014/main" id="{B8E0EECA-6979-CC64-6F4D-66E0B73C8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924944"/>
            <a:ext cx="7834064" cy="234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268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3A6B-5C73-8CC0-792B-598C3D16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84183C2-C1A0-28B2-5DE0-C0A23A37F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23CE7765-4880-0760-09C5-8B96BC123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132856"/>
            <a:ext cx="7367883" cy="384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7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CB685-DED0-439A-2490-36D63666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29B58B-4C16-287D-D427-0041DA0C3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6">
            <a:extLst>
              <a:ext uri="{FF2B5EF4-FFF2-40B4-BE49-F238E27FC236}">
                <a16:creationId xmlns:a16="http://schemas.microsoft.com/office/drawing/2014/main" id="{282451F7-938F-726A-C96C-0DAF4AF37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56" y="2247528"/>
            <a:ext cx="7754350" cy="338371"/>
          </a:xfrm>
          <a:prstGeom prst="rect">
            <a:avLst/>
          </a:prstGeom>
        </p:spPr>
      </p:pic>
      <p:pic>
        <p:nvPicPr>
          <p:cNvPr id="4" name="Imagen 8">
            <a:extLst>
              <a:ext uri="{FF2B5EF4-FFF2-40B4-BE49-F238E27FC236}">
                <a16:creationId xmlns:a16="http://schemas.microsoft.com/office/drawing/2014/main" id="{1900CF1F-9EC3-9778-3BD6-F3E4E59B4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780928"/>
            <a:ext cx="6907034" cy="31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50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D892-CCE0-C3BE-92B4-24464EDF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E34BB3A-BBCC-94A4-B234-33DE77880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B73075-83D1-D357-CB5C-9D4A98DD4E06}"/>
              </a:ext>
            </a:extLst>
          </p:cNvPr>
          <p:cNvSpPr txBox="1"/>
          <p:nvPr/>
        </p:nvSpPr>
        <p:spPr>
          <a:xfrm>
            <a:off x="1187624" y="1844824"/>
            <a:ext cx="6491489" cy="374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Verdana"/>
                <a:cs typeface="Verdana"/>
              </a:rPr>
              <a:t>Clases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y</a:t>
            </a:r>
            <a:r>
              <a:rPr sz="2000" b="1" spc="-5" dirty="0">
                <a:latin typeface="Verdana"/>
                <a:cs typeface="Verdana"/>
              </a:rPr>
              <a:t> objetos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 dirty="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00000"/>
              </a:lnSpc>
              <a:buClr>
                <a:srgbClr val="D32D50"/>
              </a:buClr>
              <a:buFont typeface="Wingdings"/>
              <a:buChar char="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partir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una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clase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se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puede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obtener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un</a:t>
            </a:r>
            <a:r>
              <a:rPr sz="2000" b="1" dirty="0">
                <a:latin typeface="Verdana"/>
                <a:cs typeface="Verdana"/>
              </a:rPr>
              <a:t> objeto 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(instancia) </a:t>
            </a:r>
            <a:r>
              <a:rPr sz="2000" b="1" dirty="0">
                <a:latin typeface="Verdana"/>
                <a:cs typeface="Verdana"/>
              </a:rPr>
              <a:t>que se </a:t>
            </a:r>
            <a:r>
              <a:rPr sz="2000" b="1" spc="-5" dirty="0">
                <a:latin typeface="Verdana"/>
                <a:cs typeface="Verdana"/>
              </a:rPr>
              <a:t>comunica con </a:t>
            </a:r>
            <a:r>
              <a:rPr sz="2000" b="1" dirty="0">
                <a:latin typeface="Verdana"/>
                <a:cs typeface="Verdana"/>
              </a:rPr>
              <a:t>otros </a:t>
            </a:r>
            <a:r>
              <a:rPr sz="2000" b="1" spc="-5" dirty="0">
                <a:latin typeface="Verdana"/>
                <a:cs typeface="Verdana"/>
              </a:rPr>
              <a:t>objetos </a:t>
            </a:r>
            <a:r>
              <a:rPr sz="2000" b="1" dirty="0">
                <a:latin typeface="Verdana"/>
                <a:cs typeface="Verdana"/>
              </a:rPr>
              <a:t>mediante 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mensajes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D32D50"/>
              </a:buClr>
              <a:buFont typeface="Wingdings"/>
              <a:buChar char=""/>
            </a:pPr>
            <a:endParaRPr sz="275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D32D50"/>
              </a:buClr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Cada objeto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tiene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un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estado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propio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D32D50"/>
              </a:buClr>
              <a:buFont typeface="Wingdings"/>
              <a:buChar char=""/>
            </a:pPr>
            <a:endParaRPr sz="2750" dirty="0">
              <a:latin typeface="Verdana"/>
              <a:cs typeface="Verdana"/>
            </a:endParaRPr>
          </a:p>
          <a:p>
            <a:pPr marL="355600" marR="6985" indent="-342900" algn="just">
              <a:lnSpc>
                <a:spcPct val="100000"/>
              </a:lnSpc>
              <a:buClr>
                <a:srgbClr val="D32D50"/>
              </a:buClr>
              <a:buFont typeface="Wingdings"/>
              <a:buChar char="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Cada</a:t>
            </a:r>
            <a:r>
              <a:rPr sz="2000" b="1" spc="66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objeto</a:t>
            </a:r>
            <a:r>
              <a:rPr sz="2000" b="1" spc="66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responde</a:t>
            </a:r>
            <a:r>
              <a:rPr sz="2000" b="1" spc="64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un</a:t>
            </a:r>
            <a:r>
              <a:rPr sz="2000" b="1" spc="65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conjunto</a:t>
            </a:r>
            <a:r>
              <a:rPr sz="2000" b="1" spc="66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</a:t>
            </a:r>
            <a:r>
              <a:rPr sz="2000" b="1" spc="67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peticiones </a:t>
            </a:r>
            <a:r>
              <a:rPr sz="2000" b="1" spc="-67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definidas</a:t>
            </a:r>
            <a:r>
              <a:rPr sz="2000" b="1" spc="1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en</a:t>
            </a:r>
            <a:r>
              <a:rPr sz="2000" b="1" spc="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la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interfaz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la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clase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la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que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pertenece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A59B8F5-B565-D687-D186-9E926E14F45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2200" y="5589439"/>
            <a:ext cx="2088232" cy="9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21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4BA5-F500-639E-2A75-CB56F76D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6A0996A-2BFB-FBD5-EF45-83C78582A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4">
            <a:extLst>
              <a:ext uri="{FF2B5EF4-FFF2-40B4-BE49-F238E27FC236}">
                <a16:creationId xmlns:a16="http://schemas.microsoft.com/office/drawing/2014/main" id="{725C6B60-5B5F-2656-8A5A-E43F5570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348880"/>
            <a:ext cx="7221035" cy="354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73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9152-90D5-B1CA-31BD-1318252CF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6608120-C406-F4DC-C100-70B54E004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3">
            <a:extLst>
              <a:ext uri="{FF2B5EF4-FFF2-40B4-BE49-F238E27FC236}">
                <a16:creationId xmlns:a16="http://schemas.microsoft.com/office/drawing/2014/main" id="{D90BAE3B-A816-7A5A-FDF0-801F4BB23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06" y="2271684"/>
            <a:ext cx="7566181" cy="379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730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BF2A-927D-6361-632D-36F6539C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03B584E-2E30-31F4-2504-3026D56C8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4">
            <a:extLst>
              <a:ext uri="{FF2B5EF4-FFF2-40B4-BE49-F238E27FC236}">
                <a16:creationId xmlns:a16="http://schemas.microsoft.com/office/drawing/2014/main" id="{441E7974-167E-57CF-0509-7A3AEDAEC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276872"/>
            <a:ext cx="7867509" cy="35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74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250E-153E-4344-E565-4580F78F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5999ADC-86DF-A832-E00D-0550A0CE1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4DBD2545-18F6-E74C-E43A-D17EFF0C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060848"/>
            <a:ext cx="7686937" cy="44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526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E110-0A8A-16C1-F965-52A078A8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150B01C-B4B7-AC6E-8F16-CD3D9B2B9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pic>
        <p:nvPicPr>
          <p:cNvPr id="2" name="Imagen 7">
            <a:extLst>
              <a:ext uri="{FF2B5EF4-FFF2-40B4-BE49-F238E27FC236}">
                <a16:creationId xmlns:a16="http://schemas.microsoft.com/office/drawing/2014/main" id="{9273B21C-6899-949B-35BA-53D6EC220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04864"/>
            <a:ext cx="7635115" cy="375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61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1E07-E489-FFA5-4FC8-A97172CF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FA70FC8-05A1-4A90-B578-61641BFFF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Programación Orientada a Objetos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CB7BB4-B31F-10CC-8A6F-087587099716}"/>
              </a:ext>
            </a:extLst>
          </p:cNvPr>
          <p:cNvSpPr txBox="1"/>
          <p:nvPr/>
        </p:nvSpPr>
        <p:spPr>
          <a:xfrm>
            <a:off x="1043608" y="1846106"/>
            <a:ext cx="7166561" cy="37266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Verdana"/>
                <a:cs typeface="Verdana"/>
              </a:rPr>
              <a:t>Clases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y</a:t>
            </a:r>
            <a:r>
              <a:rPr sz="2000" b="1" spc="-5" dirty="0">
                <a:latin typeface="Verdana"/>
                <a:cs typeface="Verdana"/>
              </a:rPr>
              <a:t> objetos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 dirty="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00000"/>
              </a:lnSpc>
              <a:buClr>
                <a:srgbClr val="D32D50"/>
              </a:buClr>
              <a:buFont typeface="Wingdings"/>
              <a:buChar char=""/>
              <a:tabLst>
                <a:tab pos="355600" algn="l"/>
              </a:tabLst>
            </a:pPr>
            <a:r>
              <a:rPr sz="2000" b="1" dirty="0">
                <a:latin typeface="Verdana"/>
                <a:cs typeface="Verdana"/>
              </a:rPr>
              <a:t>La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interfaz</a:t>
            </a:r>
            <a:r>
              <a:rPr sz="2000" b="1" dirty="0">
                <a:latin typeface="Verdana"/>
                <a:cs typeface="Verdana"/>
              </a:rPr>
              <a:t> ofrece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al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exterior</a:t>
            </a:r>
            <a:r>
              <a:rPr sz="2000" b="1" dirty="0">
                <a:latin typeface="Verdana"/>
                <a:cs typeface="Verdana"/>
              </a:rPr>
              <a:t> el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comportamiento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del </a:t>
            </a:r>
            <a:r>
              <a:rPr sz="2000" b="1" spc="-5" dirty="0">
                <a:latin typeface="Verdana"/>
                <a:cs typeface="Verdana"/>
              </a:rPr>
              <a:t> objeto. </a:t>
            </a:r>
            <a:r>
              <a:rPr sz="2000" b="1" spc="-10" dirty="0">
                <a:latin typeface="Verdana"/>
                <a:cs typeface="Verdana"/>
              </a:rPr>
              <a:t>El </a:t>
            </a:r>
            <a:r>
              <a:rPr sz="2000" b="1" spc="-5" dirty="0">
                <a:latin typeface="Verdana"/>
                <a:cs typeface="Verdana"/>
              </a:rPr>
              <a:t>código </a:t>
            </a:r>
            <a:r>
              <a:rPr sz="2000" b="1" dirty="0">
                <a:latin typeface="Verdana"/>
                <a:cs typeface="Verdana"/>
              </a:rPr>
              <a:t>y </a:t>
            </a:r>
            <a:r>
              <a:rPr sz="2000" b="1" spc="-5" dirty="0">
                <a:latin typeface="Verdana"/>
                <a:cs typeface="Verdana"/>
              </a:rPr>
              <a:t>los </a:t>
            </a:r>
            <a:r>
              <a:rPr sz="2000" b="1" dirty="0">
                <a:latin typeface="Verdana"/>
                <a:cs typeface="Verdana"/>
              </a:rPr>
              <a:t>datos internos </a:t>
            </a:r>
            <a:r>
              <a:rPr sz="2000" b="1" spc="-5" dirty="0">
                <a:latin typeface="Verdana"/>
                <a:cs typeface="Verdana"/>
              </a:rPr>
              <a:t>que </a:t>
            </a:r>
            <a:r>
              <a:rPr sz="2000" b="1" dirty="0">
                <a:latin typeface="Verdana"/>
                <a:cs typeface="Verdana"/>
              </a:rPr>
              <a:t>se </a:t>
            </a:r>
            <a:r>
              <a:rPr sz="2000" b="1" spc="-5" dirty="0">
                <a:latin typeface="Verdana"/>
                <a:cs typeface="Verdana"/>
              </a:rPr>
              <a:t>utilizan para 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responder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una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petición</a:t>
            </a:r>
            <a:r>
              <a:rPr sz="2000" b="1" spc="1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se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denomina</a:t>
            </a:r>
            <a:r>
              <a:rPr sz="2000" b="1" spc="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implementación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D32D50"/>
              </a:buClr>
              <a:buFont typeface="Wingdings"/>
              <a:buChar char=""/>
            </a:pPr>
            <a:endParaRPr sz="2750" dirty="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buClr>
                <a:srgbClr val="D32D50"/>
              </a:buClr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Un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objeto </a:t>
            </a:r>
            <a:r>
              <a:rPr sz="2000" b="1" spc="-10" dirty="0">
                <a:latin typeface="Verdana"/>
                <a:cs typeface="Verdana"/>
              </a:rPr>
              <a:t>se</a:t>
            </a:r>
            <a:r>
              <a:rPr sz="2000" b="1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compone</a:t>
            </a:r>
            <a:r>
              <a:rPr sz="2000" b="1" spc="-40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de: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D32D50"/>
              </a:buClr>
              <a:buFont typeface="Wingdings"/>
              <a:buChar char=""/>
            </a:pPr>
            <a:endParaRPr sz="2700" dirty="0">
              <a:latin typeface="Verdana"/>
              <a:cs typeface="Verdana"/>
            </a:endParaRPr>
          </a:p>
          <a:p>
            <a:pPr marL="756920" lvl="1" indent="-287020">
              <a:lnSpc>
                <a:spcPct val="100000"/>
              </a:lnSpc>
              <a:spcBef>
                <a:spcPts val="5"/>
              </a:spcBef>
              <a:buClr>
                <a:srgbClr val="D32D50"/>
              </a:buClr>
              <a:buFont typeface="Wingdings"/>
              <a:buChar char="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Interfaz: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qué </a:t>
            </a:r>
            <a:r>
              <a:rPr sz="1800" b="1" spc="-10" dirty="0">
                <a:latin typeface="Verdana"/>
                <a:cs typeface="Verdana"/>
              </a:rPr>
              <a:t>se</a:t>
            </a:r>
            <a:r>
              <a:rPr sz="1800" b="1" dirty="0">
                <a:latin typeface="Verdana"/>
                <a:cs typeface="Verdana"/>
              </a:rPr>
              <a:t> ofrece</a:t>
            </a:r>
            <a:endParaRPr sz="1800" dirty="0">
              <a:latin typeface="Verdana"/>
              <a:cs typeface="Verdana"/>
            </a:endParaRPr>
          </a:p>
          <a:p>
            <a:pPr marL="756920" lvl="1" indent="-287020">
              <a:lnSpc>
                <a:spcPct val="100000"/>
              </a:lnSpc>
              <a:spcBef>
                <a:spcPts val="439"/>
              </a:spcBef>
              <a:buClr>
                <a:srgbClr val="D32D50"/>
              </a:buClr>
              <a:buFont typeface="Wingdings"/>
              <a:buChar char="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Implementación: cómo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se</a:t>
            </a:r>
            <a:r>
              <a:rPr sz="1800" b="1" dirty="0">
                <a:latin typeface="Verdana"/>
                <a:cs typeface="Verdana"/>
              </a:rPr>
              <a:t> ofrece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157B51-07AE-DF4C-C331-2F63A4BA34D0}"/>
              </a:ext>
            </a:extLst>
          </p:cNvPr>
          <p:cNvSpPr txBox="1"/>
          <p:nvPr/>
        </p:nvSpPr>
        <p:spPr>
          <a:xfrm>
            <a:off x="1500809" y="5945667"/>
            <a:ext cx="3143632" cy="637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4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Light bombilla = new Light(); </a:t>
            </a:r>
            <a:r>
              <a:rPr sz="1800" b="1" spc="-60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bombilla.on();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012B65A-472D-355E-EF48-92A0A543F0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0657" y="5483296"/>
            <a:ext cx="2304525" cy="101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35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BADA-2720-E824-0DF1-9F3FF480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B041291-A4CE-C7DA-FFAF-77286D5FF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7674" y="2852936"/>
            <a:ext cx="5708662" cy="1927076"/>
          </a:xfrm>
        </p:spPr>
        <p:txBody>
          <a:bodyPr/>
          <a:lstStyle/>
          <a:p>
            <a:pPr algn="ctr" eaLnBrk="1" hangingPunct="1"/>
            <a:r>
              <a:rPr lang="es-ES" altLang="en-US" dirty="0"/>
              <a:t>Vamos con los ejemplos</a:t>
            </a:r>
            <a:br>
              <a:rPr lang="es-ES" altLang="en-US" dirty="0"/>
            </a:br>
            <a:br>
              <a:rPr lang="es-ES" altLang="en-US" dirty="0"/>
            </a:br>
            <a:r>
              <a:rPr lang="es-ES" altLang="en-US" sz="1800" dirty="0"/>
              <a:t>Persona.java</a:t>
            </a:r>
            <a:br>
              <a:rPr lang="es-ES" altLang="en-US" sz="1800" dirty="0"/>
            </a:br>
            <a:r>
              <a:rPr lang="es-ES" altLang="en-US" sz="1800" dirty="0"/>
              <a:t>Punto.java</a:t>
            </a:r>
            <a:endParaRPr lang="es-ES" altLang="en-US" dirty="0"/>
          </a:p>
        </p:txBody>
      </p:sp>
    </p:spTree>
    <p:extLst>
      <p:ext uri="{BB962C8B-B14F-4D97-AF65-F5344CB8AC3E}">
        <p14:creationId xmlns:p14="http://schemas.microsoft.com/office/powerpoint/2010/main" val="23170939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50" name="Picture 22" descr="MCj02824520000[1]">
            <a:extLst>
              <a:ext uri="{FF2B5EF4-FFF2-40B4-BE49-F238E27FC236}">
                <a16:creationId xmlns:a16="http://schemas.microsoft.com/office/drawing/2014/main" id="{76C11E62-9111-D596-EF5E-D38FC753E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5441950"/>
            <a:ext cx="1512888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>
            <a:extLst>
              <a:ext uri="{FF2B5EF4-FFF2-40B4-BE49-F238E27FC236}">
                <a16:creationId xmlns:a16="http://schemas.microsoft.com/office/drawing/2014/main" id="{CA8E4EBC-76D5-0D56-A2AD-CAE833170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Conceptos OOP: Encapsulamiento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AAC6205-AC28-CCB9-AF74-B1DB89C6C7D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3124200"/>
            <a:ext cx="3924300" cy="3581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" altLang="en-US" sz="2000" b="1">
                <a:solidFill>
                  <a:schemeClr val="tx2"/>
                </a:solidFill>
              </a:rPr>
              <a:t>Vemos que se puede...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Construir con: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4 puntos (y restricciones)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1 punto y 2 vectores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1 punto, 1 vector, 1 ángulo y 1 lado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Transformaciones: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Escalado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Rotación</a:t>
            </a:r>
          </a:p>
          <a:p>
            <a:pPr lvl="1"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Desplazamiento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2000">
                <a:solidFill>
                  <a:schemeClr val="tx2"/>
                </a:solidFill>
              </a:rPr>
              <a:t>Dibujar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6F666450-5B43-F1F6-5E6D-3A1CCA37A88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38700" y="3124200"/>
            <a:ext cx="43053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n-US" sz="2000" b="1" dirty="0">
                <a:solidFill>
                  <a:schemeClr val="tx2"/>
                </a:solidFill>
              </a:rPr>
              <a:t>No vemos...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Como está representado internamente</a:t>
            </a:r>
          </a:p>
          <a:p>
            <a:pPr lvl="1"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4 puntos?</a:t>
            </a:r>
          </a:p>
          <a:p>
            <a:pPr lvl="1"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1 punto y 2 vectores?</a:t>
            </a:r>
          </a:p>
          <a:p>
            <a:pPr lvl="1"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...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Como se modifica su escala</a:t>
            </a:r>
          </a:p>
          <a:p>
            <a:pPr lvl="1"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¿Guardando el factor?</a:t>
            </a:r>
          </a:p>
          <a:p>
            <a:pPr lvl="1"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¿Escalando en el momento?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n-US" sz="2000" dirty="0">
                <a:solidFill>
                  <a:schemeClr val="tx2"/>
                </a:solidFill>
              </a:rPr>
              <a:t>Ídem para rotación, traslación, etc...</a:t>
            </a: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43E69E6B-60AA-795A-C0C9-50167144A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05000"/>
            <a:ext cx="4144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n-US" sz="2400" b="1">
                <a:solidFill>
                  <a:schemeClr val="tx2"/>
                </a:solidFill>
              </a:rPr>
              <a:t>Ejemplo: Un paralelogramo</a:t>
            </a:r>
          </a:p>
        </p:txBody>
      </p:sp>
      <p:sp>
        <p:nvSpPr>
          <p:cNvPr id="22535" name="AutoShape 6">
            <a:extLst>
              <a:ext uri="{FF2B5EF4-FFF2-40B4-BE49-F238E27FC236}">
                <a16:creationId xmlns:a16="http://schemas.microsoft.com/office/drawing/2014/main" id="{487E2F4A-F8A3-29E0-9656-CE6CBFF48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981200"/>
            <a:ext cx="2743200" cy="914400"/>
          </a:xfrm>
          <a:prstGeom prst="parallelogram">
            <a:avLst>
              <a:gd name="adj" fmla="val 7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B7D7E065-8D47-EA98-1F43-8DB18774E3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981200"/>
            <a:ext cx="685800" cy="914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48136" name="Line 8">
            <a:extLst>
              <a:ext uri="{FF2B5EF4-FFF2-40B4-BE49-F238E27FC236}">
                <a16:creationId xmlns:a16="http://schemas.microsoft.com/office/drawing/2014/main" id="{3473E973-23D3-F05B-04B5-461F6C610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895600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48137" name="Arc 9">
            <a:extLst>
              <a:ext uri="{FF2B5EF4-FFF2-40B4-BE49-F238E27FC236}">
                <a16:creationId xmlns:a16="http://schemas.microsoft.com/office/drawing/2014/main" id="{8CCA84CB-6A71-5046-6009-BEFBD07CD7CD}"/>
              </a:ext>
            </a:extLst>
          </p:cNvPr>
          <p:cNvSpPr>
            <a:spLocks/>
          </p:cNvSpPr>
          <p:nvPr/>
        </p:nvSpPr>
        <p:spPr bwMode="auto">
          <a:xfrm>
            <a:off x="6375400" y="2441575"/>
            <a:ext cx="373063" cy="914400"/>
          </a:xfrm>
          <a:custGeom>
            <a:avLst/>
            <a:gdLst>
              <a:gd name="T0" fmla="*/ 0 w 20224"/>
              <a:gd name="T1" fmla="*/ 3716824 h 21600"/>
              <a:gd name="T2" fmla="*/ 126944075 w 20224"/>
              <a:gd name="T3" fmla="*/ 827622001 h 21600"/>
              <a:gd name="T4" fmla="*/ 9139103 w 20224"/>
              <a:gd name="T5" fmla="*/ 16387064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224" h="21600" fill="none" extrusionOk="0">
                <a:moveTo>
                  <a:pt x="0" y="49"/>
                </a:moveTo>
                <a:cubicBezTo>
                  <a:pt x="484" y="16"/>
                  <a:pt x="970" y="0"/>
                  <a:pt x="1456" y="0"/>
                </a:cubicBezTo>
                <a:cubicBezTo>
                  <a:pt x="9217" y="0"/>
                  <a:pt x="16382" y="4164"/>
                  <a:pt x="20224" y="10908"/>
                </a:cubicBezTo>
              </a:path>
              <a:path w="20224" h="21600" stroke="0" extrusionOk="0">
                <a:moveTo>
                  <a:pt x="0" y="49"/>
                </a:moveTo>
                <a:cubicBezTo>
                  <a:pt x="484" y="16"/>
                  <a:pt x="970" y="0"/>
                  <a:pt x="1456" y="0"/>
                </a:cubicBezTo>
                <a:cubicBezTo>
                  <a:pt x="9217" y="0"/>
                  <a:pt x="16382" y="4164"/>
                  <a:pt x="20224" y="10908"/>
                </a:cubicBezTo>
                <a:lnTo>
                  <a:pt x="1456" y="21600"/>
                </a:lnTo>
                <a:lnTo>
                  <a:pt x="0" y="4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/>
          </a:p>
        </p:txBody>
      </p:sp>
      <p:sp>
        <p:nvSpPr>
          <p:cNvPr id="48139" name="Oval 11">
            <a:extLst>
              <a:ext uri="{FF2B5EF4-FFF2-40B4-BE49-F238E27FC236}">
                <a16:creationId xmlns:a16="http://schemas.microsoft.com/office/drawing/2014/main" id="{D51861AD-A8F4-175A-E5EB-49B99336D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8479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0" name="Oval 12">
            <a:extLst>
              <a:ext uri="{FF2B5EF4-FFF2-40B4-BE49-F238E27FC236}">
                <a16:creationId xmlns:a16="http://schemas.microsoft.com/office/drawing/2014/main" id="{23B3B3D8-FD95-C610-2BC8-8987A8D9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285273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1" name="Oval 13">
            <a:extLst>
              <a:ext uri="{FF2B5EF4-FFF2-40B4-BE49-F238E27FC236}">
                <a16:creationId xmlns:a16="http://schemas.microsoft.com/office/drawing/2014/main" id="{B087FD57-9A77-EE46-4AD7-5F96674C2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19304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2" name="Oval 14">
            <a:extLst>
              <a:ext uri="{FF2B5EF4-FFF2-40B4-BE49-F238E27FC236}">
                <a16:creationId xmlns:a16="http://schemas.microsoft.com/office/drawing/2014/main" id="{AC9BEDBF-4A4C-C5BC-3FA2-5672D3FEF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425" y="194468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3" name="Oval 15">
            <a:extLst>
              <a:ext uri="{FF2B5EF4-FFF2-40B4-BE49-F238E27FC236}">
                <a16:creationId xmlns:a16="http://schemas.microsoft.com/office/drawing/2014/main" id="{BA23CB6C-F133-E084-0451-2F020D289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688" y="285273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4" name="Oval 16">
            <a:extLst>
              <a:ext uri="{FF2B5EF4-FFF2-40B4-BE49-F238E27FC236}">
                <a16:creationId xmlns:a16="http://schemas.microsoft.com/office/drawing/2014/main" id="{9CE48850-2C3C-C127-4469-1314FE78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8479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45" name="Line 17">
            <a:extLst>
              <a:ext uri="{FF2B5EF4-FFF2-40B4-BE49-F238E27FC236}">
                <a16:creationId xmlns:a16="http://schemas.microsoft.com/office/drawing/2014/main" id="{AB190C02-9F2A-6770-47DA-AEA98BEF0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2892425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48146" name="Line 18">
            <a:extLst>
              <a:ext uri="{FF2B5EF4-FFF2-40B4-BE49-F238E27FC236}">
                <a16:creationId xmlns:a16="http://schemas.microsoft.com/office/drawing/2014/main" id="{0BC8F060-424D-887E-0159-FBD0FEE4B7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4888" y="1989138"/>
            <a:ext cx="628650" cy="863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48138" name="AutoShape 10">
            <a:extLst>
              <a:ext uri="{FF2B5EF4-FFF2-40B4-BE49-F238E27FC236}">
                <a16:creationId xmlns:a16="http://schemas.microsoft.com/office/drawing/2014/main" id="{EA638ADF-6A44-48E6-2E62-5D3F1CA87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828800"/>
            <a:ext cx="3352800" cy="1219200"/>
          </a:xfrm>
          <a:prstGeom prst="parallelogram">
            <a:avLst>
              <a:gd name="adj" fmla="val 73563"/>
            </a:avLst>
          </a:prstGeom>
          <a:solidFill>
            <a:srgbClr val="FFFFCC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ES" altLang="en-US" sz="2400">
              <a:latin typeface="Times New Roman" panose="02020603050405020304" pitchFamily="18" charset="0"/>
            </a:endParaRPr>
          </a:p>
        </p:txBody>
      </p:sp>
      <p:sp>
        <p:nvSpPr>
          <p:cNvPr id="48153" name="Freeform 25">
            <a:extLst>
              <a:ext uri="{FF2B5EF4-FFF2-40B4-BE49-F238E27FC236}">
                <a16:creationId xmlns:a16="http://schemas.microsoft.com/office/drawing/2014/main" id="{2BABEDE3-ECB3-F380-9FF4-3512EDB64EF3}"/>
              </a:ext>
            </a:extLst>
          </p:cNvPr>
          <p:cNvSpPr>
            <a:spLocks/>
          </p:cNvSpPr>
          <p:nvPr/>
        </p:nvSpPr>
        <p:spPr bwMode="auto">
          <a:xfrm>
            <a:off x="4500563" y="5876925"/>
            <a:ext cx="215900" cy="144463"/>
          </a:xfrm>
          <a:custGeom>
            <a:avLst/>
            <a:gdLst>
              <a:gd name="T0" fmla="*/ 2147483646 w 227"/>
              <a:gd name="T1" fmla="*/ 0 h 181"/>
              <a:gd name="T2" fmla="*/ 2147483646 w 227"/>
              <a:gd name="T3" fmla="*/ 0 h 181"/>
              <a:gd name="T4" fmla="*/ 2147483646 w 227"/>
              <a:gd name="T5" fmla="*/ 2147483646 h 181"/>
              <a:gd name="T6" fmla="*/ 0 w 227"/>
              <a:gd name="T7" fmla="*/ 2147483646 h 181"/>
              <a:gd name="T8" fmla="*/ 2147483646 w 227"/>
              <a:gd name="T9" fmla="*/ 0 h 18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7" h="181">
                <a:moveTo>
                  <a:pt x="46" y="0"/>
                </a:moveTo>
                <a:lnTo>
                  <a:pt x="227" y="0"/>
                </a:lnTo>
                <a:lnTo>
                  <a:pt x="227" y="136"/>
                </a:lnTo>
                <a:lnTo>
                  <a:pt x="0" y="181"/>
                </a:lnTo>
                <a:lnTo>
                  <a:pt x="46" y="0"/>
                </a:lnTo>
                <a:close/>
              </a:path>
            </a:pathLst>
          </a:cu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7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7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7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  <p:bldP spid="48132" grpId="0" build="p"/>
      <p:bldP spid="48139" grpId="0" animBg="1"/>
      <p:bldP spid="48140" grpId="0" animBg="1"/>
      <p:bldP spid="48141" grpId="0" animBg="1"/>
      <p:bldP spid="48142" grpId="0" animBg="1"/>
      <p:bldP spid="48143" grpId="0" animBg="1"/>
      <p:bldP spid="48144" grpId="0" animBg="1"/>
      <p:bldP spid="481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D46204F-D061-FF0C-144F-CA01D6967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 dirty="0"/>
              <a:t>Conceptos POO: Modularidad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84588D2-8952-35E0-7E1F-15BCFD0CF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8001000" cy="5029200"/>
          </a:xfrm>
        </p:spPr>
        <p:txBody>
          <a:bodyPr/>
          <a:lstStyle/>
          <a:p>
            <a:pPr eaLnBrk="1" hangingPunct="1"/>
            <a:r>
              <a:rPr lang="es-ES" altLang="en-US" sz="2400"/>
              <a:t>Consiste en separar el sistema en </a:t>
            </a:r>
            <a:r>
              <a:rPr lang="es-ES" altLang="en-US" sz="2400">
                <a:solidFill>
                  <a:srgbClr val="0066FF"/>
                </a:solidFill>
              </a:rPr>
              <a:t>bloques poco ligados</a:t>
            </a:r>
            <a:r>
              <a:rPr lang="es-ES" altLang="en-US" sz="2400"/>
              <a:t> entre sí: </a:t>
            </a:r>
            <a:r>
              <a:rPr lang="es-ES" altLang="en-US" sz="2400">
                <a:solidFill>
                  <a:srgbClr val="0066FF"/>
                </a:solidFill>
              </a:rPr>
              <a:t>módulos</a:t>
            </a:r>
            <a:r>
              <a:rPr lang="es-ES" altLang="en-US" sz="2400"/>
              <a:t>.</a:t>
            </a:r>
          </a:p>
          <a:p>
            <a:pPr lvl="1" eaLnBrk="1" hangingPunct="1"/>
            <a:r>
              <a:rPr lang="es-ES" altLang="en-US"/>
              <a:t>Organización del código</a:t>
            </a:r>
          </a:p>
          <a:p>
            <a:pPr eaLnBrk="1" hangingPunct="1"/>
            <a:r>
              <a:rPr lang="es-ES" altLang="en-US" sz="2400"/>
              <a:t>Es una especie de </a:t>
            </a:r>
            <a:r>
              <a:rPr lang="es-ES" altLang="en-US" sz="2400">
                <a:solidFill>
                  <a:srgbClr val="0066FF"/>
                </a:solidFill>
              </a:rPr>
              <a:t>encapsulamiento</a:t>
            </a:r>
            <a:r>
              <a:rPr lang="es-ES" altLang="en-US" sz="2400"/>
              <a:t> de más </a:t>
            </a:r>
            <a:r>
              <a:rPr lang="es-ES" altLang="en-US" sz="2400">
                <a:solidFill>
                  <a:srgbClr val="0066FF"/>
                </a:solidFill>
              </a:rPr>
              <a:t>alto nivel</a:t>
            </a:r>
            <a:r>
              <a:rPr lang="es-ES" altLang="en-US" sz="2400"/>
              <a:t>.</a:t>
            </a:r>
          </a:p>
          <a:p>
            <a:pPr lvl="1" eaLnBrk="1" hangingPunct="1"/>
            <a:r>
              <a:rPr lang="es-ES" altLang="en-US"/>
              <a:t>El Java es más formal (</a:t>
            </a:r>
            <a:r>
              <a:rPr lang="es-ES" altLang="en-US" dirty="0" err="1"/>
              <a:t>packages</a:t>
            </a:r>
            <a:r>
              <a:rPr lang="es-ES" altLang="en-US"/>
              <a:t>)</a:t>
            </a:r>
          </a:p>
          <a:p>
            <a:pPr eaLnBrk="1" hangingPunct="1"/>
            <a:r>
              <a:rPr lang="es-ES" altLang="en-US" sz="2400"/>
              <a:t>Difícil pero muy </a:t>
            </a:r>
            <a:r>
              <a:rPr lang="es-ES" altLang="en-US" sz="2400">
                <a:solidFill>
                  <a:srgbClr val="0066FF"/>
                </a:solidFill>
              </a:rPr>
              <a:t>importante en sistemas grandes</a:t>
            </a:r>
            <a:r>
              <a:rPr lang="es-ES" altLang="en-US" sz="2400"/>
              <a:t>.</a:t>
            </a:r>
          </a:p>
          <a:p>
            <a:pPr lvl="1" eaLnBrk="1" hangingPunct="1"/>
            <a:r>
              <a:rPr lang="es-ES" altLang="en-US"/>
              <a:t>Suele aplicarse refinando el sistema en sucesivas iteraciones</a:t>
            </a:r>
          </a:p>
          <a:p>
            <a:pPr lvl="1" eaLnBrk="1" hangingPunct="1"/>
            <a:r>
              <a:rPr lang="es-ES" altLang="en-US"/>
              <a:t>Cada módulo debe definir una interfaz clara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 descr="CMS3d_medium">
            <a:extLst>
              <a:ext uri="{FF2B5EF4-FFF2-40B4-BE49-F238E27FC236}">
                <a16:creationId xmlns:a16="http://schemas.microsoft.com/office/drawing/2014/main" id="{481AA659-59DA-2915-7030-90518659A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01863"/>
            <a:ext cx="2895600" cy="229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>
            <a:extLst>
              <a:ext uri="{FF2B5EF4-FFF2-40B4-BE49-F238E27FC236}">
                <a16:creationId xmlns:a16="http://schemas.microsoft.com/office/drawing/2014/main" id="{506E7E3F-D555-859B-D343-EB22129FAB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n-US"/>
              <a:t>Conceptos OOP: Modularidad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E94B6F8-3397-15FD-BE72-1BB69AF8A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8229600" cy="5029200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s-ES" altLang="en-US" sz="2000" b="1">
                <a:solidFill>
                  <a:schemeClr val="tx2"/>
                </a:solidFill>
              </a:rPr>
              <a:t>Ejemplo: Simulación detector de AAEE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endParaRPr lang="es-ES" altLang="en-US" sz="600">
              <a:solidFill>
                <a:schemeClr val="tx2"/>
              </a:solidFill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es-ES" altLang="en-US" sz="2000">
                <a:solidFill>
                  <a:schemeClr val="tx2"/>
                </a:solidFill>
              </a:rPr>
              <a:t>Puede dividirse en los siguientes módulos...</a:t>
            </a:r>
          </a:p>
          <a:p>
            <a:pPr marL="457200" indent="-457200" eaLnBrk="1" hangingPunct="1">
              <a:buFont typeface="Wingdings" panose="05000000000000000000" pitchFamily="2" charset="2"/>
              <a:buAutoNum type="arabicPeriod"/>
            </a:pPr>
            <a:r>
              <a:rPr lang="es-ES" altLang="en-US" sz="2000" b="1">
                <a:solidFill>
                  <a:schemeClr val="tx2"/>
                </a:solidFill>
              </a:rPr>
              <a:t>Geometría</a:t>
            </a:r>
            <a:r>
              <a:rPr lang="es-ES" altLang="en-US" sz="2000">
                <a:solidFill>
                  <a:schemeClr val="tx2"/>
                </a:solidFill>
              </a:rPr>
              <a:t>: Describe el detector</a:t>
            </a:r>
            <a:br>
              <a:rPr lang="es-ES" altLang="en-US" sz="2000">
                <a:solidFill>
                  <a:schemeClr val="tx2"/>
                </a:solidFill>
              </a:rPr>
            </a:br>
            <a:r>
              <a:rPr lang="es-ES" altLang="en-US" sz="2000">
                <a:solidFill>
                  <a:schemeClr val="tx2"/>
                </a:solidFill>
              </a:rPr>
              <a:t>físicamente (forma, materiales, tamaño)</a:t>
            </a:r>
          </a:p>
          <a:p>
            <a:pPr marL="457200" indent="-457200" eaLnBrk="1" hangingPunct="1">
              <a:buFont typeface="Wingdings" panose="05000000000000000000" pitchFamily="2" charset="2"/>
              <a:buAutoNum type="arabicPeriod"/>
            </a:pPr>
            <a:r>
              <a:rPr lang="es-ES" altLang="en-US" sz="2000" b="1">
                <a:solidFill>
                  <a:schemeClr val="tx2"/>
                </a:solidFill>
              </a:rPr>
              <a:t>Partículas</a:t>
            </a:r>
            <a:r>
              <a:rPr lang="es-ES" altLang="en-US" sz="2000">
                <a:solidFill>
                  <a:schemeClr val="tx2"/>
                </a:solidFill>
              </a:rPr>
              <a:t>: Las partículas cuyas</a:t>
            </a:r>
            <a:br>
              <a:rPr lang="es-ES" altLang="en-US" sz="2000">
                <a:solidFill>
                  <a:schemeClr val="tx2"/>
                </a:solidFill>
              </a:rPr>
            </a:br>
            <a:r>
              <a:rPr lang="es-ES" altLang="en-US" sz="2000">
                <a:solidFill>
                  <a:schemeClr val="tx2"/>
                </a:solidFill>
              </a:rPr>
              <a:t>interacciones nos interesan</a:t>
            </a:r>
          </a:p>
          <a:p>
            <a:pPr marL="457200" indent="-457200" eaLnBrk="1" hangingPunct="1">
              <a:buFont typeface="Wingdings" panose="05000000000000000000" pitchFamily="2" charset="2"/>
              <a:buAutoNum type="arabicPeriod"/>
            </a:pPr>
            <a:r>
              <a:rPr lang="es-ES" altLang="en-US" sz="2000" b="1">
                <a:solidFill>
                  <a:schemeClr val="tx2"/>
                </a:solidFill>
              </a:rPr>
              <a:t>Procesos</a:t>
            </a:r>
            <a:r>
              <a:rPr lang="es-ES" altLang="en-US" sz="2000">
                <a:solidFill>
                  <a:schemeClr val="tx2"/>
                </a:solidFill>
              </a:rPr>
              <a:t>: Aquí enlazamos la información</a:t>
            </a:r>
            <a:br>
              <a:rPr lang="es-ES" altLang="en-US" sz="2000">
                <a:solidFill>
                  <a:schemeClr val="tx2"/>
                </a:solidFill>
              </a:rPr>
            </a:br>
            <a:r>
              <a:rPr lang="es-ES" altLang="en-US" sz="2000">
                <a:solidFill>
                  <a:schemeClr val="tx2"/>
                </a:solidFill>
              </a:rPr>
              <a:t>del detector (materia) con las propiedades</a:t>
            </a:r>
            <a:br>
              <a:rPr lang="es-ES" altLang="en-US" sz="2000">
                <a:solidFill>
                  <a:schemeClr val="tx2"/>
                </a:solidFill>
              </a:rPr>
            </a:br>
            <a:r>
              <a:rPr lang="es-ES" altLang="en-US" sz="2000">
                <a:solidFill>
                  <a:schemeClr val="tx2"/>
                </a:solidFill>
              </a:rPr>
              <a:t>de las partículas.</a:t>
            </a:r>
          </a:p>
          <a:p>
            <a:pPr marL="457200" indent="-457200" eaLnBrk="1" hangingPunct="1">
              <a:buFont typeface="Wingdings" panose="05000000000000000000" pitchFamily="2" charset="2"/>
              <a:buAutoNum type="arabicPeriod"/>
            </a:pPr>
            <a:r>
              <a:rPr lang="es-ES" altLang="en-US" sz="2000" b="1">
                <a:solidFill>
                  <a:schemeClr val="tx2"/>
                </a:solidFill>
              </a:rPr>
              <a:t>...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endParaRPr lang="es-ES" altLang="en-US" sz="700">
              <a:solidFill>
                <a:schemeClr val="tx2"/>
              </a:solidFill>
            </a:endParaRPr>
          </a:p>
          <a:p>
            <a:pPr marL="457200" indent="-457200" eaLnBrk="1" hangingPunct="1"/>
            <a:r>
              <a:rPr lang="es-ES" altLang="en-US" sz="2000">
                <a:solidFill>
                  <a:schemeClr val="tx2"/>
                </a:solidFill>
              </a:rPr>
              <a:t>Podríamos dividir el módulo de procesos en </a:t>
            </a:r>
            <a:r>
              <a:rPr lang="es-ES" altLang="en-US" sz="2000" i="1">
                <a:solidFill>
                  <a:schemeClr val="tx2"/>
                </a:solidFill>
              </a:rPr>
              <a:t>procesos electromagnéticos</a:t>
            </a:r>
            <a:r>
              <a:rPr lang="es-ES" altLang="en-US" sz="2000">
                <a:solidFill>
                  <a:schemeClr val="tx2"/>
                </a:solidFill>
              </a:rPr>
              <a:t>, </a:t>
            </a:r>
            <a:r>
              <a:rPr lang="es-ES" altLang="en-US" sz="2000" i="1">
                <a:solidFill>
                  <a:schemeClr val="tx2"/>
                </a:solidFill>
              </a:rPr>
              <a:t>procesos hadrónicos</a:t>
            </a:r>
            <a:r>
              <a:rPr lang="es-ES" altLang="en-US" sz="2000">
                <a:solidFill>
                  <a:schemeClr val="tx2"/>
                </a:solidFill>
              </a:rPr>
              <a:t>, ...</a:t>
            </a:r>
          </a:p>
          <a:p>
            <a:pPr marL="457200" indent="-457200" eaLnBrk="1" hangingPunct="1"/>
            <a:r>
              <a:rPr lang="es-ES" altLang="en-US" sz="2000">
                <a:solidFill>
                  <a:schemeClr val="tx2"/>
                </a:solidFill>
              </a:rPr>
              <a:t>Lo mismo podríamos hacerlo con las partículas: </a:t>
            </a:r>
            <a:r>
              <a:rPr lang="es-ES" altLang="en-US" sz="2000" i="1">
                <a:solidFill>
                  <a:schemeClr val="tx2"/>
                </a:solidFill>
              </a:rPr>
              <a:t>leptones</a:t>
            </a:r>
            <a:r>
              <a:rPr lang="es-ES" altLang="en-US" sz="2000">
                <a:solidFill>
                  <a:schemeClr val="tx2"/>
                </a:solidFill>
              </a:rPr>
              <a:t>, </a:t>
            </a:r>
            <a:r>
              <a:rPr lang="es-ES" altLang="en-US" sz="2000" i="1">
                <a:solidFill>
                  <a:schemeClr val="tx2"/>
                </a:solidFill>
              </a:rPr>
              <a:t>hadrones</a:t>
            </a:r>
            <a:r>
              <a:rPr lang="es-ES" altLang="en-US" sz="2000">
                <a:solidFill>
                  <a:schemeClr val="tx2"/>
                </a:solidFill>
              </a:rPr>
              <a:t>,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ápsulas">
  <a:themeElements>
    <a:clrScheme name="Cápsula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ápsul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ápsula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ápsula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ápsula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Office\Templates\Diseños de presentaciones\Cápsulas.pot</Template>
  <TotalTime>2345</TotalTime>
  <Words>1638</Words>
  <Application>Microsoft Office PowerPoint</Application>
  <PresentationFormat>On-screen Show (4:3)</PresentationFormat>
  <Paragraphs>298</Paragraphs>
  <Slides>47</Slides>
  <Notes>45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Helvetica</vt:lpstr>
      <vt:lpstr>Times New Roman</vt:lpstr>
      <vt:lpstr>Verdana</vt:lpstr>
      <vt:lpstr>Wingdings</vt:lpstr>
      <vt:lpstr>Cápsulas</vt:lpstr>
      <vt:lpstr>Programación Orientada a Objetos</vt:lpstr>
      <vt:lpstr>Introducción</vt:lpstr>
      <vt:lpstr>Programación Orientada a Objetos</vt:lpstr>
      <vt:lpstr>Programación Orientada a Objetos</vt:lpstr>
      <vt:lpstr>Ventajas de la POO</vt:lpstr>
      <vt:lpstr>Desventajas de la POO</vt:lpstr>
      <vt:lpstr>Conceptos de la POO</vt:lpstr>
      <vt:lpstr>Conceptos POO: Abstracción</vt:lpstr>
      <vt:lpstr>Conceptos POO: Abstracción</vt:lpstr>
      <vt:lpstr>Conceptos POO: Abstracción</vt:lpstr>
      <vt:lpstr>Conceptos POO: Abstracción</vt:lpstr>
      <vt:lpstr>Conceptos POO: Abstracción</vt:lpstr>
      <vt:lpstr>Conceptos POO: Abstracción</vt:lpstr>
      <vt:lpstr>Objeto y Clase</vt:lpstr>
      <vt:lpstr>Objeto y Clase</vt:lpstr>
      <vt:lpstr>Objeto y Clase</vt:lpstr>
      <vt:lpstr>Objeto y Clase</vt:lpstr>
      <vt:lpstr>Objeto y Clase</vt:lpstr>
      <vt:lpstr>Conceptos POO: Encapsulamiento</vt:lpstr>
      <vt:lpstr>Conceptos POO: Encapsulamiento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Programación Orientada a Objetos</vt:lpstr>
      <vt:lpstr>Vamos con los ejemplos  Persona.java Punto.java</vt:lpstr>
      <vt:lpstr>Conceptos OOP: Encapsulamiento</vt:lpstr>
      <vt:lpstr>Conceptos POO: Modularidad</vt:lpstr>
      <vt:lpstr>Conceptos OOP: Modularidad</vt:lpstr>
    </vt:vector>
  </TitlesOfParts>
  <Company>Universidad de Cantabria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</dc:title>
  <dc:creator>Isidro González Caballero</dc:creator>
  <cp:lastModifiedBy>Norbey Muñoz</cp:lastModifiedBy>
  <cp:revision>49</cp:revision>
  <cp:lastPrinted>1601-01-01T00:00:00Z</cp:lastPrinted>
  <dcterms:created xsi:type="dcterms:W3CDTF">2003-06-16T17:24:54Z</dcterms:created>
  <dcterms:modified xsi:type="dcterms:W3CDTF">2026-08-11T02:37:59Z</dcterms:modified>
</cp:coreProperties>
</file>